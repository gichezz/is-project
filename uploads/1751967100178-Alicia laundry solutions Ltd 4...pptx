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5" r:id="rId10"/>
    <p:sldId id="266" r:id="rId11"/>
    <p:sldId id="268" r:id="rId12"/>
    <p:sldId id="269" r:id="rId13"/>
    <p:sldId id="271" r:id="rId14"/>
    <p:sldId id="277" r:id="rId15"/>
    <p:sldId id="273" r:id="rId16"/>
    <p:sldId id="274" r:id="rId17"/>
    <p:sldId id="275" r:id="rId18"/>
    <p:sldId id="276" r:id="rId19"/>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96" autoAdjust="0"/>
    <p:restoredTop sz="94660"/>
  </p:normalViewPr>
  <p:slideViewPr>
    <p:cSldViewPr>
      <p:cViewPr varScale="1">
        <p:scale>
          <a:sx n="45" d="100"/>
          <a:sy n="45" d="100"/>
        </p:scale>
        <p:origin x="1884"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26609324-7966-4472-8EEE-7D5194F42F5D}" type="datetimeFigureOut">
              <a:rPr lang="en-KE" smtClean="0"/>
              <a:t>05/07/2025</a:t>
            </a:fld>
            <a:endParaRPr lang="en-KE"/>
          </a:p>
        </p:txBody>
      </p:sp>
      <p:sp>
        <p:nvSpPr>
          <p:cNvPr id="4" name="Slide Image Placeholder 3"/>
          <p:cNvSpPr>
            <a:spLocks noGrp="1" noRot="1" noChangeAspect="1"/>
          </p:cNvSpPr>
          <p:nvPr>
            <p:ph type="sldImg" idx="2"/>
          </p:nvPr>
        </p:nvSpPr>
        <p:spPr>
          <a:xfrm>
            <a:off x="2574925" y="1257300"/>
            <a:ext cx="2622550" cy="3394075"/>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9DB5FD57-929B-4E7E-A330-CCC0E7FDA3A7}" type="slidenum">
              <a:rPr lang="en-KE" smtClean="0"/>
              <a:t>‹#›</a:t>
            </a:fld>
            <a:endParaRPr lang="en-KE"/>
          </a:p>
        </p:txBody>
      </p:sp>
    </p:spTree>
    <p:extLst>
      <p:ext uri="{BB962C8B-B14F-4D97-AF65-F5344CB8AC3E}">
        <p14:creationId xmlns:p14="http://schemas.microsoft.com/office/powerpoint/2010/main" val="571146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E" dirty="0"/>
          </a:p>
        </p:txBody>
      </p:sp>
      <p:sp>
        <p:nvSpPr>
          <p:cNvPr id="4" name="Slide Number Placeholder 3"/>
          <p:cNvSpPr>
            <a:spLocks noGrp="1"/>
          </p:cNvSpPr>
          <p:nvPr>
            <p:ph type="sldNum" sz="quarter" idx="5"/>
          </p:nvPr>
        </p:nvSpPr>
        <p:spPr/>
        <p:txBody>
          <a:bodyPr/>
          <a:lstStyle/>
          <a:p>
            <a:fld id="{9DB5FD57-929B-4E7E-A330-CCC0E7FDA3A7}" type="slidenum">
              <a:rPr lang="en-KE" smtClean="0"/>
              <a:t>5</a:t>
            </a:fld>
            <a:endParaRPr lang="en-KE"/>
          </a:p>
        </p:txBody>
      </p:sp>
    </p:spTree>
    <p:extLst>
      <p:ext uri="{BB962C8B-B14F-4D97-AF65-F5344CB8AC3E}">
        <p14:creationId xmlns:p14="http://schemas.microsoft.com/office/powerpoint/2010/main" val="2393765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sz="2200" b="1" i="0">
                <a:solidFill>
                  <a:srgbClr val="00AFEF"/>
                </a:solidFill>
                <a:latin typeface="Arial"/>
                <a:cs typeface="Arial"/>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sz="11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7/5/2025</a:t>
            </a:fld>
            <a:endParaRPr lang="en-US"/>
          </a:p>
        </p:txBody>
      </p:sp>
      <p:sp>
        <p:nvSpPr>
          <p:cNvPr id="6" name="Holder 6"/>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ts val="115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rgbClr val="00AFE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7/5/2025</a:t>
            </a:fld>
            <a:endParaRPr lang="en-US"/>
          </a:p>
        </p:txBody>
      </p:sp>
      <p:sp>
        <p:nvSpPr>
          <p:cNvPr id="6" name="Holder 6"/>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ts val="115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rgbClr val="00AFEF"/>
                </a:solidFill>
                <a:latin typeface="Arial"/>
                <a:cs typeface="Arial"/>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7/5/2025</a:t>
            </a:fld>
            <a:endParaRPr lang="en-US"/>
          </a:p>
        </p:txBody>
      </p:sp>
      <p:sp>
        <p:nvSpPr>
          <p:cNvPr id="7" name="Holder 7"/>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ts val="115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rgbClr val="00AFE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7/5/2025</a:t>
            </a:fld>
            <a:endParaRPr lang="en-US"/>
          </a:p>
        </p:txBody>
      </p:sp>
      <p:sp>
        <p:nvSpPr>
          <p:cNvPr id="5" name="Holder 5"/>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ts val="115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7/5/2025</a:t>
            </a:fld>
            <a:endParaRPr lang="en-US"/>
          </a:p>
        </p:txBody>
      </p:sp>
      <p:sp>
        <p:nvSpPr>
          <p:cNvPr id="4" name="Holder 4"/>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ts val="115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130604" y="1032408"/>
            <a:ext cx="4610735" cy="766444"/>
          </a:xfrm>
          <a:prstGeom prst="rect">
            <a:avLst/>
          </a:prstGeom>
        </p:spPr>
        <p:txBody>
          <a:bodyPr wrap="square" lIns="0" tIns="0" rIns="0" bIns="0">
            <a:spAutoFit/>
          </a:bodyPr>
          <a:lstStyle>
            <a:lvl1pPr>
              <a:defRPr sz="2200" b="1" i="0">
                <a:solidFill>
                  <a:srgbClr val="00AFEF"/>
                </a:solidFill>
                <a:latin typeface="Arial"/>
                <a:cs typeface="Arial"/>
              </a:defRPr>
            </a:lvl1pPr>
          </a:lstStyle>
          <a:p>
            <a:endParaRPr/>
          </a:p>
        </p:txBody>
      </p:sp>
      <p:sp>
        <p:nvSpPr>
          <p:cNvPr id="3" name="Holder 3"/>
          <p:cNvSpPr>
            <a:spLocks noGrp="1"/>
          </p:cNvSpPr>
          <p:nvPr>
            <p:ph type="body" idx="1"/>
          </p:nvPr>
        </p:nvSpPr>
        <p:spPr>
          <a:xfrm>
            <a:off x="902004" y="1844394"/>
            <a:ext cx="5967095" cy="6873875"/>
          </a:xfrm>
          <a:prstGeom prst="rect">
            <a:avLst/>
          </a:prstGeom>
        </p:spPr>
        <p:txBody>
          <a:bodyPr wrap="square" lIns="0" tIns="0" rIns="0" bIns="0">
            <a:spAutoFit/>
          </a:bodyPr>
          <a:lstStyle>
            <a:lvl1pPr>
              <a:defRPr sz="11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7/5/2025</a:t>
            </a:fld>
            <a:endParaRPr lang="en-US"/>
          </a:p>
        </p:txBody>
      </p:sp>
      <p:sp>
        <p:nvSpPr>
          <p:cNvPr id="6" name="Holder 6"/>
          <p:cNvSpPr>
            <a:spLocks noGrp="1"/>
          </p:cNvSpPr>
          <p:nvPr>
            <p:ph type="sldNum" sz="quarter" idx="7"/>
          </p:nvPr>
        </p:nvSpPr>
        <p:spPr>
          <a:xfrm>
            <a:off x="6704838" y="9274250"/>
            <a:ext cx="207009" cy="165734"/>
          </a:xfrm>
          <a:prstGeom prst="rect">
            <a:avLst/>
          </a:prstGeom>
        </p:spPr>
        <p:txBody>
          <a:bodyPr wrap="square" lIns="0" tIns="0" rIns="0" bIns="0">
            <a:spAutoFit/>
          </a:bodyPr>
          <a:lstStyle>
            <a:lvl1pPr>
              <a:defRPr sz="1100" b="0" i="0">
                <a:solidFill>
                  <a:schemeClr val="tx1"/>
                </a:solidFill>
                <a:latin typeface="Calibri"/>
                <a:cs typeface="Calibri"/>
              </a:defRPr>
            </a:lvl1pPr>
          </a:lstStyle>
          <a:p>
            <a:pPr marL="12700">
              <a:lnSpc>
                <a:spcPts val="115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hyperlink" Target="https://businessplan-templates.com/" TargetMode="External"/><Relationship Id="rId2" Type="http://schemas.openxmlformats.org/officeDocument/2006/relationships/hyperlink" Target="https://businessinkenya.co.ke/"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object 2"/>
          <p:cNvSpPr txBox="1"/>
          <p:nvPr/>
        </p:nvSpPr>
        <p:spPr>
          <a:xfrm>
            <a:off x="6776466" y="435356"/>
            <a:ext cx="96520" cy="193675"/>
          </a:xfrm>
          <a:prstGeom prst="rect">
            <a:avLst/>
          </a:prstGeom>
        </p:spPr>
        <p:txBody>
          <a:bodyPr vert="horz" wrap="square" lIns="0" tIns="12700" rIns="0" bIns="0" rtlCol="0">
            <a:spAutoFit/>
          </a:bodyPr>
          <a:lstStyle/>
          <a:p>
            <a:pPr marL="12700">
              <a:lnSpc>
                <a:spcPct val="100000"/>
              </a:lnSpc>
              <a:spcBef>
                <a:spcPts val="100"/>
              </a:spcBef>
            </a:pPr>
            <a:r>
              <a:rPr sz="1100" spc="-50" dirty="0">
                <a:latin typeface="Calibri"/>
                <a:cs typeface="Calibri"/>
              </a:rPr>
              <a:t>1</a:t>
            </a:r>
            <a:endParaRPr sz="1100">
              <a:latin typeface="Calibri"/>
              <a:cs typeface="Calibri"/>
            </a:endParaRPr>
          </a:p>
        </p:txBody>
      </p:sp>
      <p:pic>
        <p:nvPicPr>
          <p:cNvPr id="3" name="object 3"/>
          <p:cNvPicPr/>
          <p:nvPr/>
        </p:nvPicPr>
        <p:blipFill>
          <a:blip r:embed="rId2" cstate="print"/>
          <a:stretch>
            <a:fillRect/>
          </a:stretch>
        </p:blipFill>
        <p:spPr>
          <a:xfrm>
            <a:off x="1172575" y="265069"/>
            <a:ext cx="5437774" cy="1894787"/>
          </a:xfrm>
          <a:prstGeom prst="rect">
            <a:avLst/>
          </a:prstGeom>
        </p:spPr>
      </p:pic>
      <p:sp>
        <p:nvSpPr>
          <p:cNvPr id="4" name="object 4"/>
          <p:cNvSpPr txBox="1"/>
          <p:nvPr/>
        </p:nvSpPr>
        <p:spPr>
          <a:xfrm>
            <a:off x="2500122" y="3479419"/>
            <a:ext cx="2811145" cy="4559197"/>
          </a:xfrm>
          <a:prstGeom prst="rect">
            <a:avLst/>
          </a:prstGeom>
        </p:spPr>
        <p:txBody>
          <a:bodyPr vert="horz" wrap="square" lIns="0" tIns="12700" rIns="0" bIns="0" rtlCol="0">
            <a:spAutoFit/>
          </a:bodyPr>
          <a:lstStyle/>
          <a:p>
            <a:pPr algn="ctr">
              <a:lnSpc>
                <a:spcPct val="100000"/>
              </a:lnSpc>
              <a:spcBef>
                <a:spcPts val="100"/>
              </a:spcBef>
            </a:pPr>
            <a:r>
              <a:rPr sz="1200" spc="-10" dirty="0">
                <a:latin typeface="Arial"/>
                <a:cs typeface="Arial"/>
              </a:rPr>
              <a:t>ALICIA</a:t>
            </a:r>
            <a:r>
              <a:rPr sz="1200" spc="-60" dirty="0">
                <a:latin typeface="Arial"/>
                <a:cs typeface="Arial"/>
              </a:rPr>
              <a:t> </a:t>
            </a:r>
            <a:r>
              <a:rPr sz="1200" spc="-10" dirty="0">
                <a:latin typeface="Arial"/>
                <a:cs typeface="Arial"/>
              </a:rPr>
              <a:t>LAUNDRY</a:t>
            </a:r>
            <a:r>
              <a:rPr sz="1200" spc="-25" dirty="0">
                <a:latin typeface="Arial"/>
                <a:cs typeface="Arial"/>
              </a:rPr>
              <a:t> </a:t>
            </a:r>
            <a:r>
              <a:rPr sz="1200" dirty="0">
                <a:latin typeface="Arial"/>
                <a:cs typeface="Arial"/>
              </a:rPr>
              <a:t>SOLUTIONS</a:t>
            </a:r>
            <a:r>
              <a:rPr sz="1200" spc="-10" dirty="0">
                <a:latin typeface="Arial"/>
                <a:cs typeface="Arial"/>
              </a:rPr>
              <a:t> </a:t>
            </a:r>
            <a:r>
              <a:rPr sz="1200" dirty="0">
                <a:latin typeface="Arial"/>
                <a:cs typeface="Arial"/>
              </a:rPr>
              <a:t>LTD</a:t>
            </a:r>
            <a:r>
              <a:rPr sz="1200" spc="-20" dirty="0">
                <a:latin typeface="Arial"/>
                <a:cs typeface="Arial"/>
              </a:rPr>
              <a:t> (ALS)</a:t>
            </a:r>
            <a:endParaRPr sz="1200" dirty="0">
              <a:latin typeface="Arial"/>
              <a:cs typeface="Arial"/>
            </a:endParaRPr>
          </a:p>
          <a:p>
            <a:pPr marR="31115" algn="ctr">
              <a:lnSpc>
                <a:spcPct val="100000"/>
              </a:lnSpc>
              <a:spcBef>
                <a:spcPts val="940"/>
              </a:spcBef>
            </a:pPr>
            <a:r>
              <a:rPr lang="en-GB" sz="1200" dirty="0">
                <a:latin typeface="Arial"/>
                <a:cs typeface="Arial"/>
              </a:rPr>
              <a:t>Leading Change Management</a:t>
            </a:r>
            <a:endParaRPr sz="1200" dirty="0">
              <a:latin typeface="Arial"/>
              <a:cs typeface="Arial"/>
            </a:endParaRPr>
          </a:p>
          <a:p>
            <a:pPr marL="714375" marR="744220" algn="ctr">
              <a:lnSpc>
                <a:spcPct val="251799"/>
              </a:lnSpc>
              <a:spcBef>
                <a:spcPts val="1210"/>
              </a:spcBef>
            </a:pPr>
            <a:r>
              <a:rPr sz="1200" spc="-10" dirty="0">
                <a:latin typeface="Arial MT"/>
                <a:cs typeface="Arial MT"/>
              </a:rPr>
              <a:t>Collince</a:t>
            </a:r>
            <a:r>
              <a:rPr sz="1200" dirty="0">
                <a:latin typeface="Arial MT"/>
                <a:cs typeface="Arial MT"/>
              </a:rPr>
              <a:t> Okoth</a:t>
            </a:r>
            <a:r>
              <a:rPr sz="1200" spc="5" dirty="0">
                <a:latin typeface="Arial MT"/>
                <a:cs typeface="Arial MT"/>
              </a:rPr>
              <a:t> </a:t>
            </a:r>
            <a:r>
              <a:rPr sz="1200" spc="-20" dirty="0">
                <a:latin typeface="Arial MT"/>
                <a:cs typeface="Arial MT"/>
              </a:rPr>
              <a:t>Mbare </a:t>
            </a:r>
            <a:r>
              <a:rPr sz="1200" spc="-10" dirty="0">
                <a:latin typeface="Arial MT"/>
                <a:cs typeface="Arial MT"/>
              </a:rPr>
              <a:t>DL-3970-</a:t>
            </a:r>
            <a:r>
              <a:rPr sz="1200" spc="-25" dirty="0">
                <a:latin typeface="Arial MT"/>
                <a:cs typeface="Arial MT"/>
              </a:rPr>
              <a:t>25</a:t>
            </a:r>
            <a:endParaRPr sz="1200" dirty="0">
              <a:latin typeface="Arial MT"/>
              <a:cs typeface="Arial MT"/>
            </a:endParaRPr>
          </a:p>
          <a:p>
            <a:pPr marL="262890" marR="294005" algn="ctr">
              <a:lnSpc>
                <a:spcPct val="252000"/>
              </a:lnSpc>
              <a:spcBef>
                <a:spcPts val="10"/>
              </a:spcBef>
            </a:pPr>
            <a:r>
              <a:rPr sz="1200" dirty="0">
                <a:latin typeface="Arial MT"/>
                <a:cs typeface="Arial MT"/>
              </a:rPr>
              <a:t>Diploma</a:t>
            </a:r>
            <a:r>
              <a:rPr sz="1200" spc="-40" dirty="0">
                <a:latin typeface="Arial MT"/>
                <a:cs typeface="Arial MT"/>
              </a:rPr>
              <a:t> </a:t>
            </a:r>
            <a:r>
              <a:rPr sz="1200" dirty="0">
                <a:latin typeface="Arial MT"/>
                <a:cs typeface="Arial MT"/>
              </a:rPr>
              <a:t>in</a:t>
            </a:r>
            <a:r>
              <a:rPr sz="1200" spc="-40" dirty="0">
                <a:latin typeface="Arial MT"/>
                <a:cs typeface="Arial MT"/>
              </a:rPr>
              <a:t> </a:t>
            </a:r>
            <a:r>
              <a:rPr sz="1200" dirty="0">
                <a:latin typeface="Arial MT"/>
                <a:cs typeface="Arial MT"/>
              </a:rPr>
              <a:t>Leadership</a:t>
            </a:r>
            <a:r>
              <a:rPr sz="1200" spc="-45" dirty="0">
                <a:latin typeface="Arial MT"/>
                <a:cs typeface="Arial MT"/>
              </a:rPr>
              <a:t> </a:t>
            </a:r>
            <a:r>
              <a:rPr sz="1200" spc="-10" dirty="0">
                <a:latin typeface="Arial MT"/>
                <a:cs typeface="Arial MT"/>
              </a:rPr>
              <a:t>Management </a:t>
            </a:r>
            <a:r>
              <a:rPr sz="1200" dirty="0">
                <a:latin typeface="Arial MT"/>
                <a:cs typeface="Arial MT"/>
              </a:rPr>
              <a:t>MGT</a:t>
            </a:r>
            <a:r>
              <a:rPr sz="1200" spc="-15" dirty="0">
                <a:latin typeface="Arial MT"/>
                <a:cs typeface="Arial MT"/>
              </a:rPr>
              <a:t> </a:t>
            </a:r>
            <a:r>
              <a:rPr sz="1200" dirty="0">
                <a:latin typeface="Arial MT"/>
                <a:cs typeface="Arial MT"/>
              </a:rPr>
              <a:t>035</a:t>
            </a:r>
            <a:r>
              <a:rPr sz="1200" spc="-25" dirty="0">
                <a:latin typeface="Arial MT"/>
                <a:cs typeface="Arial MT"/>
              </a:rPr>
              <a:t> </a:t>
            </a:r>
            <a:r>
              <a:rPr sz="1200" dirty="0">
                <a:latin typeface="Arial MT"/>
                <a:cs typeface="Arial MT"/>
              </a:rPr>
              <a:t>Leading</a:t>
            </a:r>
            <a:r>
              <a:rPr sz="1200" spc="-25" dirty="0">
                <a:latin typeface="Arial MT"/>
                <a:cs typeface="Arial MT"/>
              </a:rPr>
              <a:t> </a:t>
            </a:r>
            <a:r>
              <a:rPr sz="1200" spc="-10" dirty="0">
                <a:latin typeface="Arial MT"/>
                <a:cs typeface="Arial MT"/>
              </a:rPr>
              <a:t>Change</a:t>
            </a:r>
            <a:endParaRPr sz="1200" dirty="0">
              <a:latin typeface="Arial MT"/>
              <a:cs typeface="Arial MT"/>
            </a:endParaRPr>
          </a:p>
          <a:p>
            <a:pPr marL="337820" marR="366395" indent="-1905" algn="ctr">
              <a:lnSpc>
                <a:spcPct val="252300"/>
              </a:lnSpc>
              <a:spcBef>
                <a:spcPts val="5"/>
              </a:spcBef>
            </a:pPr>
            <a:r>
              <a:rPr sz="1200" dirty="0">
                <a:latin typeface="Arial MT"/>
                <a:cs typeface="Arial MT"/>
              </a:rPr>
              <a:t>Dr.</a:t>
            </a:r>
            <a:r>
              <a:rPr sz="1200" spc="-30" dirty="0">
                <a:latin typeface="Arial MT"/>
                <a:cs typeface="Arial MT"/>
              </a:rPr>
              <a:t> </a:t>
            </a:r>
            <a:r>
              <a:rPr sz="1200" dirty="0">
                <a:latin typeface="Arial MT"/>
                <a:cs typeface="Arial MT"/>
              </a:rPr>
              <a:t>Roselynn</a:t>
            </a:r>
            <a:r>
              <a:rPr sz="1200" spc="-40" dirty="0">
                <a:latin typeface="Arial MT"/>
                <a:cs typeface="Arial MT"/>
              </a:rPr>
              <a:t> </a:t>
            </a:r>
            <a:r>
              <a:rPr sz="1200" spc="-10" dirty="0">
                <a:latin typeface="Arial MT"/>
                <a:cs typeface="Arial MT"/>
              </a:rPr>
              <a:t>Kinyamu</a:t>
            </a:r>
            <a:r>
              <a:rPr sz="1200" spc="500" dirty="0">
                <a:latin typeface="Arial MT"/>
                <a:cs typeface="Arial MT"/>
              </a:rPr>
              <a:t> </a:t>
            </a:r>
            <a:r>
              <a:rPr sz="1200" dirty="0">
                <a:latin typeface="Arial MT"/>
                <a:cs typeface="Arial MT"/>
              </a:rPr>
              <a:t>Leadership</a:t>
            </a:r>
            <a:r>
              <a:rPr sz="1200" spc="-55" dirty="0">
                <a:latin typeface="Arial MT"/>
                <a:cs typeface="Arial MT"/>
              </a:rPr>
              <a:t> </a:t>
            </a:r>
            <a:r>
              <a:rPr sz="1200" dirty="0">
                <a:latin typeface="Arial MT"/>
                <a:cs typeface="Arial MT"/>
              </a:rPr>
              <a:t>Management</a:t>
            </a:r>
            <a:r>
              <a:rPr sz="1200" spc="-60" dirty="0">
                <a:latin typeface="Arial MT"/>
                <a:cs typeface="Arial MT"/>
              </a:rPr>
              <a:t> </a:t>
            </a:r>
            <a:r>
              <a:rPr sz="1200" spc="-10" dirty="0">
                <a:latin typeface="Arial MT"/>
                <a:cs typeface="Arial MT"/>
              </a:rPr>
              <a:t>Teacher </a:t>
            </a:r>
            <a:r>
              <a:rPr sz="1200" dirty="0">
                <a:latin typeface="Arial MT"/>
                <a:cs typeface="Arial MT"/>
              </a:rPr>
              <a:t>02</a:t>
            </a:r>
            <a:r>
              <a:rPr sz="1100" baseline="39682" dirty="0">
                <a:latin typeface="Arial MT"/>
                <a:cs typeface="Arial MT"/>
              </a:rPr>
              <a:t>nd</a:t>
            </a:r>
            <a:r>
              <a:rPr sz="1100" spc="150" baseline="39682" dirty="0">
                <a:latin typeface="Arial MT"/>
                <a:cs typeface="Arial MT"/>
              </a:rPr>
              <a:t> </a:t>
            </a:r>
            <a:r>
              <a:rPr sz="1200" dirty="0">
                <a:latin typeface="Arial MT"/>
                <a:cs typeface="Arial MT"/>
              </a:rPr>
              <a:t>June</a:t>
            </a:r>
            <a:r>
              <a:rPr sz="1200" spc="-20" dirty="0">
                <a:latin typeface="Arial MT"/>
                <a:cs typeface="Arial MT"/>
              </a:rPr>
              <a:t> 2025</a:t>
            </a:r>
            <a:endParaRPr sz="1200" dirty="0">
              <a:latin typeface="Arial MT"/>
              <a:cs typeface="Arial MT"/>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2</a:t>
            </a:fld>
            <a:endParaRPr spc="-25" dirty="0"/>
          </a:p>
        </p:txBody>
      </p:sp>
      <p:sp>
        <p:nvSpPr>
          <p:cNvPr id="2" name="object 2"/>
          <p:cNvSpPr txBox="1"/>
          <p:nvPr/>
        </p:nvSpPr>
        <p:spPr>
          <a:xfrm>
            <a:off x="6776466" y="435356"/>
            <a:ext cx="96520" cy="193675"/>
          </a:xfrm>
          <a:prstGeom prst="rect">
            <a:avLst/>
          </a:prstGeom>
        </p:spPr>
        <p:txBody>
          <a:bodyPr vert="horz" wrap="square" lIns="0" tIns="12700" rIns="0" bIns="0" rtlCol="0">
            <a:spAutoFit/>
          </a:bodyPr>
          <a:lstStyle/>
          <a:p>
            <a:pPr marL="12700">
              <a:lnSpc>
                <a:spcPct val="100000"/>
              </a:lnSpc>
              <a:spcBef>
                <a:spcPts val="100"/>
              </a:spcBef>
            </a:pPr>
            <a:r>
              <a:rPr sz="1100" spc="-50" dirty="0">
                <a:latin typeface="Calibri"/>
                <a:cs typeface="Calibri"/>
              </a:rPr>
              <a:t>2</a:t>
            </a:r>
            <a:endParaRPr sz="1100">
              <a:latin typeface="Calibri"/>
              <a:cs typeface="Calibri"/>
            </a:endParaRPr>
          </a:p>
        </p:txBody>
      </p:sp>
      <p:sp>
        <p:nvSpPr>
          <p:cNvPr id="3" name="object 3"/>
          <p:cNvSpPr txBox="1">
            <a:spLocks noGrp="1"/>
          </p:cNvSpPr>
          <p:nvPr>
            <p:ph type="title"/>
          </p:nvPr>
        </p:nvSpPr>
        <p:spPr>
          <a:xfrm>
            <a:off x="902004" y="845566"/>
            <a:ext cx="5884545" cy="793807"/>
          </a:xfrm>
          <a:prstGeom prst="rect">
            <a:avLst/>
          </a:prstGeom>
        </p:spPr>
        <p:txBody>
          <a:bodyPr vert="horz" wrap="square" lIns="0" tIns="12700" rIns="0" bIns="0" rtlCol="0">
            <a:spAutoFit/>
          </a:bodyPr>
          <a:lstStyle/>
          <a:p>
            <a:pPr marL="12700" marR="5080">
              <a:lnSpc>
                <a:spcPct val="110000"/>
              </a:lnSpc>
              <a:spcBef>
                <a:spcPts val="100"/>
              </a:spcBef>
            </a:pPr>
            <a:r>
              <a:rPr sz="2400" dirty="0">
                <a:solidFill>
                  <a:schemeClr val="tx1"/>
                </a:solidFill>
              </a:rPr>
              <a:t>ALICIA</a:t>
            </a:r>
            <a:r>
              <a:rPr sz="2400" spc="-65" dirty="0">
                <a:solidFill>
                  <a:schemeClr val="tx1"/>
                </a:solidFill>
              </a:rPr>
              <a:t> </a:t>
            </a:r>
            <a:r>
              <a:rPr sz="2400" dirty="0">
                <a:solidFill>
                  <a:schemeClr val="tx1"/>
                </a:solidFill>
              </a:rPr>
              <a:t>LAUNDRY</a:t>
            </a:r>
            <a:r>
              <a:rPr sz="2400" spc="-60" dirty="0">
                <a:solidFill>
                  <a:schemeClr val="tx1"/>
                </a:solidFill>
              </a:rPr>
              <a:t> </a:t>
            </a:r>
            <a:r>
              <a:rPr sz="2400" dirty="0">
                <a:solidFill>
                  <a:schemeClr val="tx1"/>
                </a:solidFill>
              </a:rPr>
              <a:t>SOLUTIONS</a:t>
            </a:r>
            <a:r>
              <a:rPr sz="2400" spc="-55" dirty="0">
                <a:solidFill>
                  <a:schemeClr val="tx1"/>
                </a:solidFill>
              </a:rPr>
              <a:t> </a:t>
            </a:r>
            <a:r>
              <a:rPr sz="2400" spc="-10" dirty="0">
                <a:solidFill>
                  <a:schemeClr val="tx1"/>
                </a:solidFill>
              </a:rPr>
              <a:t>CHANGE </a:t>
            </a:r>
            <a:r>
              <a:rPr sz="2400" dirty="0">
                <a:solidFill>
                  <a:schemeClr val="tx1"/>
                </a:solidFill>
              </a:rPr>
              <a:t>MANAGEMENT</a:t>
            </a:r>
            <a:r>
              <a:rPr sz="2400" spc="-114" dirty="0">
                <a:solidFill>
                  <a:schemeClr val="tx1"/>
                </a:solidFill>
              </a:rPr>
              <a:t> </a:t>
            </a:r>
            <a:r>
              <a:rPr sz="2400" dirty="0">
                <a:solidFill>
                  <a:schemeClr val="tx1"/>
                </a:solidFill>
              </a:rPr>
              <a:t>PLAN</a:t>
            </a:r>
            <a:r>
              <a:rPr sz="2400" spc="-110" dirty="0">
                <a:solidFill>
                  <a:schemeClr val="tx1"/>
                </a:solidFill>
              </a:rPr>
              <a:t> </a:t>
            </a:r>
            <a:r>
              <a:rPr sz="2400" spc="-10" dirty="0">
                <a:solidFill>
                  <a:schemeClr val="tx1"/>
                </a:solidFill>
              </a:rPr>
              <a:t>(ALS)</a:t>
            </a:r>
            <a:endParaRPr sz="2400" dirty="0">
              <a:solidFill>
                <a:schemeClr val="tx1"/>
              </a:solidFill>
            </a:endParaRPr>
          </a:p>
        </p:txBody>
      </p:sp>
      <p:sp>
        <p:nvSpPr>
          <p:cNvPr id="4" name="object 4"/>
          <p:cNvSpPr txBox="1"/>
          <p:nvPr/>
        </p:nvSpPr>
        <p:spPr>
          <a:xfrm>
            <a:off x="902004" y="2078481"/>
            <a:ext cx="5856605" cy="2351285"/>
          </a:xfrm>
          <a:prstGeom prst="rect">
            <a:avLst/>
          </a:prstGeom>
        </p:spPr>
        <p:txBody>
          <a:bodyPr vert="horz" wrap="square" lIns="0" tIns="12065" rIns="0" bIns="0" rtlCol="0">
            <a:spAutoFit/>
          </a:bodyPr>
          <a:lstStyle/>
          <a:p>
            <a:pPr marL="241300">
              <a:lnSpc>
                <a:spcPct val="150000"/>
              </a:lnSpc>
              <a:spcBef>
                <a:spcPts val="95"/>
              </a:spcBef>
              <a:tabLst>
                <a:tab pos="697865" algn="l"/>
              </a:tabLst>
            </a:pPr>
            <a:r>
              <a:rPr sz="2200" b="1" spc="-25" dirty="0">
                <a:solidFill>
                  <a:schemeClr val="tx1"/>
                </a:solidFill>
                <a:latin typeface="Arial"/>
                <a:cs typeface="Arial"/>
              </a:rPr>
              <a:t>I.</a:t>
            </a:r>
            <a:r>
              <a:rPr sz="2200" b="1" dirty="0">
                <a:solidFill>
                  <a:schemeClr val="tx1"/>
                </a:solidFill>
                <a:latin typeface="Arial"/>
                <a:cs typeface="Arial"/>
              </a:rPr>
              <a:t>	</a:t>
            </a:r>
            <a:r>
              <a:rPr sz="2200" b="1" spc="-10" dirty="0">
                <a:solidFill>
                  <a:schemeClr val="tx1"/>
                </a:solidFill>
                <a:latin typeface="Arial"/>
                <a:cs typeface="Arial"/>
              </a:rPr>
              <a:t>Declaration</a:t>
            </a:r>
            <a:endParaRPr sz="2200" dirty="0">
              <a:solidFill>
                <a:schemeClr val="tx1"/>
              </a:solidFill>
              <a:latin typeface="Arial"/>
              <a:cs typeface="Arial"/>
            </a:endParaRPr>
          </a:p>
          <a:p>
            <a:pPr>
              <a:lnSpc>
                <a:spcPct val="150000"/>
              </a:lnSpc>
            </a:pPr>
            <a:r>
              <a:rPr lang="en-KE" sz="1200" dirty="0">
                <a:latin typeface="Arial" panose="020B0604020202020204" pitchFamily="34" charset="0"/>
                <a:cs typeface="Arial" panose="020B0604020202020204" pitchFamily="34" charset="0"/>
              </a:rPr>
              <a:t>I, </a:t>
            </a:r>
            <a:r>
              <a:rPr lang="en-KE" sz="1200" dirty="0" err="1">
                <a:latin typeface="Arial" panose="020B0604020202020204" pitchFamily="34" charset="0"/>
                <a:cs typeface="Arial" panose="020B0604020202020204" pitchFamily="34" charset="0"/>
              </a:rPr>
              <a:t>Collince</a:t>
            </a:r>
            <a:r>
              <a:rPr lang="en-KE" sz="1200" dirty="0">
                <a:latin typeface="Arial" panose="020B0604020202020204" pitchFamily="34" charset="0"/>
                <a:cs typeface="Arial" panose="020B0604020202020204" pitchFamily="34" charset="0"/>
              </a:rPr>
              <a:t> Okoth Mbare, co-director of Alicia Laundry Solutions Ltd (ALS), declare that this project titled </a:t>
            </a:r>
            <a:r>
              <a:rPr lang="en-KE" sz="1200" i="1" dirty="0">
                <a:latin typeface="Arial" panose="020B0604020202020204" pitchFamily="34" charset="0"/>
                <a:cs typeface="Arial" panose="020B0604020202020204" pitchFamily="34" charset="0"/>
              </a:rPr>
              <a:t>"Managing Change at ALS"</a:t>
            </a:r>
            <a:r>
              <a:rPr lang="en-KE" sz="1200" dirty="0">
                <a:latin typeface="Arial" panose="020B0604020202020204" pitchFamily="34" charset="0"/>
                <a:cs typeface="Arial" panose="020B0604020202020204" pitchFamily="34" charset="0"/>
              </a:rPr>
              <a:t> is my original work, prepared as part of my Diploma in Leadership Management at International Leadership University (ILU).</a:t>
            </a:r>
          </a:p>
          <a:p>
            <a:pPr>
              <a:lnSpc>
                <a:spcPct val="150000"/>
              </a:lnSpc>
            </a:pPr>
            <a:r>
              <a:rPr lang="en-KE" sz="1200" dirty="0">
                <a:latin typeface="Arial" panose="020B0604020202020204" pitchFamily="34" charset="0"/>
                <a:cs typeface="Arial" panose="020B0604020202020204" pitchFamily="34" charset="0"/>
              </a:rPr>
              <a:t>It reflects my strategic analysis and proposed solutions to guide ALS through meaningful organizational change, based on current industry challenges, practical experience, and relevant theoretical frameworks.</a:t>
            </a:r>
          </a:p>
          <a:p>
            <a:pPr marL="12700">
              <a:lnSpc>
                <a:spcPct val="100000"/>
              </a:lnSpc>
            </a:pPr>
            <a:r>
              <a:rPr sz="1100" spc="-10" dirty="0">
                <a:latin typeface="Arial MT"/>
                <a:cs typeface="Arial MT"/>
              </a:rPr>
              <a:t>.</a:t>
            </a:r>
            <a:endParaRPr sz="1100" dirty="0">
              <a:latin typeface="Arial MT"/>
              <a:cs typeface="Arial MT"/>
            </a:endParaRPr>
          </a:p>
        </p:txBody>
      </p:sp>
      <p:sp>
        <p:nvSpPr>
          <p:cNvPr id="6" name="object 6"/>
          <p:cNvSpPr txBox="1"/>
          <p:nvPr/>
        </p:nvSpPr>
        <p:spPr>
          <a:xfrm>
            <a:off x="940104" y="4663403"/>
            <a:ext cx="5655945" cy="1930464"/>
          </a:xfrm>
          <a:prstGeom prst="rect">
            <a:avLst/>
          </a:prstGeom>
        </p:spPr>
        <p:txBody>
          <a:bodyPr vert="horz" wrap="square" lIns="0" tIns="116839" rIns="0" bIns="0" rtlCol="0">
            <a:spAutoFit/>
          </a:bodyPr>
          <a:lstStyle/>
          <a:p>
            <a:pPr marL="469265" indent="-456565">
              <a:lnSpc>
                <a:spcPct val="150000"/>
              </a:lnSpc>
              <a:spcBef>
                <a:spcPts val="919"/>
              </a:spcBef>
              <a:buAutoNum type="romanUcPeriod" startAt="2"/>
              <a:tabLst>
                <a:tab pos="469265" algn="l"/>
              </a:tabLst>
            </a:pPr>
            <a:r>
              <a:rPr sz="2200" b="1" spc="-10" dirty="0">
                <a:solidFill>
                  <a:schemeClr val="tx1"/>
                </a:solidFill>
                <a:latin typeface="Arial"/>
                <a:cs typeface="Arial"/>
              </a:rPr>
              <a:t>Abbreviations</a:t>
            </a:r>
            <a:endParaRPr sz="2200" dirty="0">
              <a:solidFill>
                <a:schemeClr val="tx1"/>
              </a:solidFill>
              <a:latin typeface="Arial"/>
              <a:cs typeface="Arial"/>
            </a:endParaRPr>
          </a:p>
          <a:p>
            <a:pPr marL="240665" lvl="1" indent="-227965">
              <a:lnSpc>
                <a:spcPct val="150000"/>
              </a:lnSpc>
              <a:spcBef>
                <a:spcPts val="420"/>
              </a:spcBef>
              <a:buFont typeface="Symbol"/>
              <a:buChar char=""/>
              <a:tabLst>
                <a:tab pos="240665" algn="l"/>
              </a:tabLst>
            </a:pPr>
            <a:r>
              <a:rPr sz="1200" dirty="0">
                <a:latin typeface="Arial MT"/>
                <a:cs typeface="Arial MT"/>
              </a:rPr>
              <a:t>ALS</a:t>
            </a:r>
            <a:r>
              <a:rPr sz="1200" spc="-45" dirty="0">
                <a:latin typeface="Arial MT"/>
                <a:cs typeface="Arial MT"/>
              </a:rPr>
              <a:t> </a:t>
            </a:r>
            <a:r>
              <a:rPr sz="1200" dirty="0">
                <a:latin typeface="Arial MT"/>
                <a:cs typeface="Arial MT"/>
              </a:rPr>
              <a:t>:Alicia</a:t>
            </a:r>
            <a:r>
              <a:rPr sz="1200" spc="-40" dirty="0">
                <a:latin typeface="Arial MT"/>
                <a:cs typeface="Arial MT"/>
              </a:rPr>
              <a:t> </a:t>
            </a:r>
            <a:r>
              <a:rPr sz="1200" dirty="0">
                <a:latin typeface="Arial MT"/>
                <a:cs typeface="Arial MT"/>
              </a:rPr>
              <a:t>laundry</a:t>
            </a:r>
            <a:r>
              <a:rPr sz="1200" spc="-45" dirty="0">
                <a:latin typeface="Arial MT"/>
                <a:cs typeface="Arial MT"/>
              </a:rPr>
              <a:t> </a:t>
            </a:r>
            <a:r>
              <a:rPr sz="1200" dirty="0">
                <a:latin typeface="Arial MT"/>
                <a:cs typeface="Arial MT"/>
              </a:rPr>
              <a:t>solutions</a:t>
            </a:r>
            <a:r>
              <a:rPr sz="1200" spc="-35" dirty="0">
                <a:latin typeface="Arial MT"/>
                <a:cs typeface="Arial MT"/>
              </a:rPr>
              <a:t> </a:t>
            </a:r>
            <a:r>
              <a:rPr sz="1200" spc="-10" dirty="0">
                <a:latin typeface="Arial MT"/>
                <a:cs typeface="Arial MT"/>
              </a:rPr>
              <a:t>limited</a:t>
            </a:r>
            <a:endParaRPr sz="1200" dirty="0">
              <a:latin typeface="Arial MT"/>
              <a:cs typeface="Arial MT"/>
            </a:endParaRPr>
          </a:p>
          <a:p>
            <a:pPr marL="240665" lvl="1" indent="-227965">
              <a:lnSpc>
                <a:spcPct val="150000"/>
              </a:lnSpc>
              <a:spcBef>
                <a:spcPts val="650"/>
              </a:spcBef>
              <a:buFont typeface="Symbol"/>
              <a:buChar char=""/>
              <a:tabLst>
                <a:tab pos="240665" algn="l"/>
              </a:tabLst>
            </a:pPr>
            <a:r>
              <a:rPr sz="1200" dirty="0">
                <a:latin typeface="Arial MT"/>
                <a:cs typeface="Arial MT"/>
              </a:rPr>
              <a:t>ILU</a:t>
            </a:r>
            <a:r>
              <a:rPr sz="1200" spc="-40" dirty="0">
                <a:latin typeface="Arial MT"/>
                <a:cs typeface="Arial MT"/>
              </a:rPr>
              <a:t> </a:t>
            </a:r>
            <a:r>
              <a:rPr sz="1200" dirty="0">
                <a:latin typeface="Arial MT"/>
                <a:cs typeface="Arial MT"/>
              </a:rPr>
              <a:t>:</a:t>
            </a:r>
            <a:r>
              <a:rPr sz="1200" spc="-35" dirty="0">
                <a:latin typeface="Arial MT"/>
                <a:cs typeface="Arial MT"/>
              </a:rPr>
              <a:t> </a:t>
            </a:r>
            <a:r>
              <a:rPr sz="1200" dirty="0">
                <a:latin typeface="Arial MT"/>
                <a:cs typeface="Arial MT"/>
              </a:rPr>
              <a:t>International</a:t>
            </a:r>
            <a:r>
              <a:rPr sz="1200" spc="-35" dirty="0">
                <a:latin typeface="Arial MT"/>
                <a:cs typeface="Arial MT"/>
              </a:rPr>
              <a:t> </a:t>
            </a:r>
            <a:r>
              <a:rPr sz="1200" dirty="0">
                <a:latin typeface="Arial MT"/>
                <a:cs typeface="Arial MT"/>
              </a:rPr>
              <a:t>Leadership</a:t>
            </a:r>
            <a:r>
              <a:rPr sz="1200" spc="-30" dirty="0">
                <a:latin typeface="Arial MT"/>
                <a:cs typeface="Arial MT"/>
              </a:rPr>
              <a:t> </a:t>
            </a:r>
            <a:r>
              <a:rPr sz="1200" spc="-10" dirty="0">
                <a:latin typeface="Arial MT"/>
                <a:cs typeface="Arial MT"/>
              </a:rPr>
              <a:t>University</a:t>
            </a:r>
            <a:endParaRPr sz="1200" dirty="0">
              <a:latin typeface="Arial MT"/>
              <a:cs typeface="Arial MT"/>
            </a:endParaRPr>
          </a:p>
          <a:p>
            <a:pPr marL="240665" lvl="1" indent="-227965">
              <a:lnSpc>
                <a:spcPct val="150000"/>
              </a:lnSpc>
              <a:spcBef>
                <a:spcPts val="645"/>
              </a:spcBef>
              <a:buFont typeface="Symbol"/>
              <a:buChar char=""/>
              <a:tabLst>
                <a:tab pos="240665" algn="l"/>
              </a:tabLst>
            </a:pPr>
            <a:r>
              <a:rPr sz="1200" dirty="0">
                <a:latin typeface="Arial MT"/>
                <a:cs typeface="Arial MT"/>
              </a:rPr>
              <a:t>DLM</a:t>
            </a:r>
            <a:r>
              <a:rPr sz="1200" spc="-45" dirty="0">
                <a:latin typeface="Arial MT"/>
                <a:cs typeface="Arial MT"/>
              </a:rPr>
              <a:t> </a:t>
            </a:r>
            <a:r>
              <a:rPr sz="1200" dirty="0">
                <a:latin typeface="Arial MT"/>
                <a:cs typeface="Arial MT"/>
              </a:rPr>
              <a:t>:</a:t>
            </a:r>
            <a:r>
              <a:rPr sz="1200" spc="-25" dirty="0">
                <a:latin typeface="Arial MT"/>
                <a:cs typeface="Arial MT"/>
              </a:rPr>
              <a:t> </a:t>
            </a:r>
            <a:r>
              <a:rPr sz="1200" dirty="0">
                <a:latin typeface="Arial MT"/>
                <a:cs typeface="Arial MT"/>
              </a:rPr>
              <a:t>Diploma</a:t>
            </a:r>
            <a:r>
              <a:rPr sz="1200" spc="-25" dirty="0">
                <a:latin typeface="Arial MT"/>
                <a:cs typeface="Arial MT"/>
              </a:rPr>
              <a:t> </a:t>
            </a:r>
            <a:r>
              <a:rPr sz="1200" dirty="0">
                <a:latin typeface="Arial MT"/>
                <a:cs typeface="Arial MT"/>
              </a:rPr>
              <a:t>in</a:t>
            </a:r>
            <a:r>
              <a:rPr sz="1200" spc="-40" dirty="0">
                <a:latin typeface="Arial MT"/>
                <a:cs typeface="Arial MT"/>
              </a:rPr>
              <a:t> </a:t>
            </a:r>
            <a:r>
              <a:rPr sz="1200" dirty="0">
                <a:latin typeface="Arial MT"/>
                <a:cs typeface="Arial MT"/>
              </a:rPr>
              <a:t>Leadership</a:t>
            </a:r>
            <a:r>
              <a:rPr sz="1200" spc="-30" dirty="0">
                <a:latin typeface="Arial MT"/>
                <a:cs typeface="Arial MT"/>
              </a:rPr>
              <a:t> </a:t>
            </a:r>
            <a:r>
              <a:rPr sz="1200" spc="-10" dirty="0">
                <a:latin typeface="Arial MT"/>
                <a:cs typeface="Arial MT"/>
              </a:rPr>
              <a:t>Management</a:t>
            </a:r>
            <a:endParaRPr sz="1200" dirty="0">
              <a:latin typeface="Arial MT"/>
              <a:cs typeface="Arial MT"/>
            </a:endParaRPr>
          </a:p>
          <a:p>
            <a:pPr marL="240665" marR="5080" lvl="1" indent="-228600">
              <a:lnSpc>
                <a:spcPct val="150000"/>
              </a:lnSpc>
              <a:spcBef>
                <a:spcPts val="60"/>
              </a:spcBef>
              <a:buFont typeface="Symbol"/>
              <a:buChar char=""/>
              <a:tabLst>
                <a:tab pos="240665" algn="l"/>
              </a:tabLst>
            </a:pPr>
            <a:r>
              <a:rPr sz="1200" dirty="0">
                <a:latin typeface="Arial MT"/>
                <a:cs typeface="Arial MT"/>
              </a:rPr>
              <a:t>SMART:</a:t>
            </a:r>
            <a:r>
              <a:rPr sz="1200" spc="60" dirty="0">
                <a:latin typeface="Arial MT"/>
                <a:cs typeface="Arial MT"/>
              </a:rPr>
              <a:t> </a:t>
            </a:r>
            <a:r>
              <a:rPr lang="en-KE" sz="1200" dirty="0"/>
              <a:t>Specific, Measurable, Achievable, Relevant, Time-bound</a:t>
            </a:r>
            <a:endParaRPr sz="1200" dirty="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3</a:t>
            </a:fld>
            <a:endParaRPr spc="-25" dirty="0"/>
          </a:p>
        </p:txBody>
      </p:sp>
      <p:sp>
        <p:nvSpPr>
          <p:cNvPr id="2" name="object 2"/>
          <p:cNvSpPr txBox="1"/>
          <p:nvPr/>
        </p:nvSpPr>
        <p:spPr>
          <a:xfrm>
            <a:off x="6776466" y="435356"/>
            <a:ext cx="96520" cy="193675"/>
          </a:xfrm>
          <a:prstGeom prst="rect">
            <a:avLst/>
          </a:prstGeom>
        </p:spPr>
        <p:txBody>
          <a:bodyPr vert="horz" wrap="square" lIns="0" tIns="12700" rIns="0" bIns="0" rtlCol="0">
            <a:spAutoFit/>
          </a:bodyPr>
          <a:lstStyle/>
          <a:p>
            <a:pPr marL="12700">
              <a:lnSpc>
                <a:spcPct val="100000"/>
              </a:lnSpc>
              <a:spcBef>
                <a:spcPts val="100"/>
              </a:spcBef>
            </a:pPr>
            <a:r>
              <a:rPr sz="1100" spc="-50" dirty="0">
                <a:latin typeface="Calibri"/>
                <a:cs typeface="Calibri"/>
              </a:rPr>
              <a:t>3</a:t>
            </a:r>
            <a:endParaRPr sz="1100">
              <a:latin typeface="Calibri"/>
              <a:cs typeface="Calibri"/>
            </a:endParaRPr>
          </a:p>
        </p:txBody>
      </p:sp>
      <p:sp>
        <p:nvSpPr>
          <p:cNvPr id="3" name="object 3"/>
          <p:cNvSpPr txBox="1">
            <a:spLocks noGrp="1"/>
          </p:cNvSpPr>
          <p:nvPr>
            <p:ph type="title"/>
          </p:nvPr>
        </p:nvSpPr>
        <p:spPr>
          <a:xfrm>
            <a:off x="1130604" y="1032408"/>
            <a:ext cx="4610735" cy="734688"/>
          </a:xfrm>
          <a:prstGeom prst="rect">
            <a:avLst/>
          </a:prstGeom>
        </p:spPr>
        <p:txBody>
          <a:bodyPr vert="horz" wrap="square" lIns="0" tIns="12700" rIns="0" bIns="0" rtlCol="0">
            <a:spAutoFit/>
          </a:bodyPr>
          <a:lstStyle/>
          <a:p>
            <a:pPr marL="469265" marR="5080" indent="-457200">
              <a:lnSpc>
                <a:spcPct val="110500"/>
              </a:lnSpc>
              <a:spcBef>
                <a:spcPts val="100"/>
              </a:spcBef>
              <a:tabLst>
                <a:tab pos="469265" algn="l"/>
              </a:tabLst>
            </a:pPr>
            <a:r>
              <a:rPr spc="-20" dirty="0">
                <a:solidFill>
                  <a:schemeClr val="tx1"/>
                </a:solidFill>
              </a:rPr>
              <a:t>III.</a:t>
            </a:r>
            <a:r>
              <a:rPr dirty="0">
                <a:solidFill>
                  <a:schemeClr val="tx1"/>
                </a:solidFill>
              </a:rPr>
              <a:t>	Executive</a:t>
            </a:r>
            <a:r>
              <a:rPr spc="-65" dirty="0">
                <a:solidFill>
                  <a:schemeClr val="tx1"/>
                </a:solidFill>
              </a:rPr>
              <a:t> </a:t>
            </a:r>
            <a:r>
              <a:rPr dirty="0">
                <a:solidFill>
                  <a:schemeClr val="tx1"/>
                </a:solidFill>
              </a:rPr>
              <a:t>Summary</a:t>
            </a:r>
            <a:r>
              <a:rPr spc="-65" dirty="0">
                <a:solidFill>
                  <a:schemeClr val="tx1"/>
                </a:solidFill>
              </a:rPr>
              <a:t> </a:t>
            </a:r>
            <a:r>
              <a:rPr dirty="0">
                <a:solidFill>
                  <a:schemeClr val="tx1"/>
                </a:solidFill>
              </a:rPr>
              <a:t>of</a:t>
            </a:r>
            <a:r>
              <a:rPr spc="-60" dirty="0">
                <a:solidFill>
                  <a:schemeClr val="tx1"/>
                </a:solidFill>
              </a:rPr>
              <a:t> </a:t>
            </a:r>
            <a:r>
              <a:rPr dirty="0">
                <a:solidFill>
                  <a:schemeClr val="tx1"/>
                </a:solidFill>
              </a:rPr>
              <a:t>the</a:t>
            </a:r>
            <a:r>
              <a:rPr spc="-50" dirty="0">
                <a:solidFill>
                  <a:schemeClr val="tx1"/>
                </a:solidFill>
              </a:rPr>
              <a:t> </a:t>
            </a:r>
            <a:r>
              <a:rPr spc="-25" dirty="0">
                <a:solidFill>
                  <a:schemeClr val="tx1"/>
                </a:solidFill>
              </a:rPr>
              <a:t>ALS </a:t>
            </a:r>
            <a:r>
              <a:rPr dirty="0">
                <a:solidFill>
                  <a:schemeClr val="tx1"/>
                </a:solidFill>
              </a:rPr>
              <a:t>Leading</a:t>
            </a:r>
            <a:r>
              <a:rPr spc="-85" dirty="0">
                <a:solidFill>
                  <a:schemeClr val="tx1"/>
                </a:solidFill>
              </a:rPr>
              <a:t> </a:t>
            </a:r>
            <a:r>
              <a:rPr dirty="0">
                <a:solidFill>
                  <a:schemeClr val="tx1"/>
                </a:solidFill>
              </a:rPr>
              <a:t>change</a:t>
            </a:r>
            <a:r>
              <a:rPr spc="-80" dirty="0">
                <a:solidFill>
                  <a:schemeClr val="tx1"/>
                </a:solidFill>
              </a:rPr>
              <a:t> </a:t>
            </a:r>
            <a:r>
              <a:rPr spc="-10" dirty="0">
                <a:solidFill>
                  <a:schemeClr val="tx1"/>
                </a:solidFill>
              </a:rPr>
              <a:t>project.</a:t>
            </a:r>
          </a:p>
        </p:txBody>
      </p:sp>
      <p:sp>
        <p:nvSpPr>
          <p:cNvPr id="4" name="object 4"/>
          <p:cNvSpPr txBox="1">
            <a:spLocks noGrp="1"/>
          </p:cNvSpPr>
          <p:nvPr>
            <p:ph type="body" idx="1"/>
          </p:nvPr>
        </p:nvSpPr>
        <p:spPr>
          <a:xfrm>
            <a:off x="909902" y="1905000"/>
            <a:ext cx="5967095" cy="6073266"/>
          </a:xfrm>
          <a:prstGeom prst="rect">
            <a:avLst/>
          </a:prstGeom>
        </p:spPr>
        <p:txBody>
          <a:bodyPr vert="horz" wrap="square" lIns="0" tIns="13335" rIns="0" bIns="0" rtlCol="0">
            <a:spAutoFit/>
          </a:bodyPr>
          <a:lstStyle/>
          <a:p>
            <a:pPr>
              <a:lnSpc>
                <a:spcPct val="150000"/>
              </a:lnSpc>
            </a:pPr>
            <a:r>
              <a:rPr lang="en-US" sz="1200" dirty="0"/>
              <a:t>This project presents a structured change management plan for Alicia Laundry Solutions Ltd (ALS), aimed at positioning the company as a leading provider of sustainable laundry services in Kenya within three years. Guided by Kotter’s 8-Step Change Model, the initiative focuses on organizational process transformation in response to post-COVID-19 challenges, rising operational costs, and increasing competition.</a:t>
            </a:r>
            <a:endParaRPr lang="en-KE" sz="1200" dirty="0"/>
          </a:p>
          <a:p>
            <a:pPr>
              <a:lnSpc>
                <a:spcPct val="150000"/>
              </a:lnSpc>
            </a:pPr>
            <a:r>
              <a:rPr lang="en-US" sz="1200" dirty="0"/>
              <a:t>A strong sense of urgency has been created by highlighting external market pressures and internal inefficiencies. A multidisciplinary guiding coalition has been assembled to lead the change, bringing together expertise in strategy, finance, operations, and HR. A clear and strategic vision has been established, with actionable short-, medium-, and long-term initiatives such as launching new sustainable branches and enhancing service efficiency.</a:t>
            </a:r>
            <a:endParaRPr lang="en-KE" sz="1200" dirty="0"/>
          </a:p>
          <a:p>
            <a:pPr>
              <a:lnSpc>
                <a:spcPct val="150000"/>
              </a:lnSpc>
            </a:pPr>
            <a:r>
              <a:rPr lang="en-US" sz="1200" dirty="0"/>
              <a:t>ALS plans to enlist a volunteer army of change agents, empower employees, and remove systemic barriers to change. Early wins will be generated and celebrated to sustain momentum, while lessons from quick successes will be used to consolidate gains and drive further transformation.</a:t>
            </a:r>
            <a:endParaRPr lang="en-KE" sz="1200" dirty="0"/>
          </a:p>
          <a:p>
            <a:pPr>
              <a:lnSpc>
                <a:spcPct val="150000"/>
              </a:lnSpc>
            </a:pPr>
            <a:r>
              <a:rPr lang="en-US" sz="1200" dirty="0"/>
              <a:t>The new practices will be anchored in the company culture through leadership support, staff training, and updated policies. Long-term sustainability will be ensured through continuous learning, performance tracking, and strategic adaptability. A detailed one-year operational budget has also been developed to support key initiatives and maintain financial health throughout the implementation period.</a:t>
            </a:r>
            <a:endParaRPr lang="en-KE" sz="1200" dirty="0"/>
          </a:p>
          <a:p>
            <a:pPr>
              <a:lnSpc>
                <a:spcPct val="150000"/>
              </a:lnSpc>
            </a:pPr>
            <a:r>
              <a:rPr lang="en-US" sz="1200" dirty="0"/>
              <a:t>Through this project, ALS is setting the foundation for innovation, growth, and long-term excellence in the laundry industry.</a:t>
            </a:r>
            <a:endParaRPr lang="en-KE"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4</a:t>
            </a:fld>
            <a:endParaRPr spc="-25" dirty="0"/>
          </a:p>
        </p:txBody>
      </p:sp>
      <p:sp>
        <p:nvSpPr>
          <p:cNvPr id="2" name="object 2"/>
          <p:cNvSpPr txBox="1"/>
          <p:nvPr/>
        </p:nvSpPr>
        <p:spPr>
          <a:xfrm>
            <a:off x="902004" y="435356"/>
            <a:ext cx="5972175" cy="8150116"/>
          </a:xfrm>
          <a:prstGeom prst="rect">
            <a:avLst/>
          </a:prstGeom>
        </p:spPr>
        <p:txBody>
          <a:bodyPr vert="horz" wrap="square" lIns="0" tIns="12700" rIns="0" bIns="0" rtlCol="0">
            <a:spAutoFit/>
          </a:bodyPr>
          <a:lstStyle/>
          <a:p>
            <a:pPr marR="5715" algn="r">
              <a:lnSpc>
                <a:spcPct val="100000"/>
              </a:lnSpc>
              <a:spcBef>
                <a:spcPts val="100"/>
              </a:spcBef>
            </a:pPr>
            <a:r>
              <a:rPr sz="1100" spc="-50" dirty="0">
                <a:latin typeface="Calibri"/>
                <a:cs typeface="Calibri"/>
              </a:rPr>
              <a:t>4</a:t>
            </a:r>
            <a:endParaRPr lang="en-GB" sz="1100" dirty="0">
              <a:latin typeface="Calibri"/>
              <a:cs typeface="Calibri"/>
            </a:endParaRPr>
          </a:p>
          <a:p>
            <a:pPr marL="241300">
              <a:lnSpc>
                <a:spcPct val="100000"/>
              </a:lnSpc>
            </a:pPr>
            <a:r>
              <a:rPr lang="en-GB" sz="2200" b="1" dirty="0">
                <a:solidFill>
                  <a:schemeClr val="tx1"/>
                </a:solidFill>
                <a:latin typeface="Arial"/>
                <a:cs typeface="Arial"/>
              </a:rPr>
              <a:t>IV.</a:t>
            </a:r>
            <a:r>
              <a:rPr lang="en-GB" sz="2200" b="1" spc="235" dirty="0">
                <a:solidFill>
                  <a:schemeClr val="tx1"/>
                </a:solidFill>
                <a:latin typeface="Arial"/>
                <a:cs typeface="Arial"/>
              </a:rPr>
              <a:t> </a:t>
            </a:r>
            <a:r>
              <a:rPr lang="en-GB" sz="2200" b="1" dirty="0">
                <a:solidFill>
                  <a:schemeClr val="tx1"/>
                </a:solidFill>
                <a:latin typeface="Arial"/>
                <a:cs typeface="Arial"/>
              </a:rPr>
              <a:t>Project</a:t>
            </a:r>
            <a:r>
              <a:rPr lang="en-GB" sz="2200" b="1" spc="-45" dirty="0">
                <a:solidFill>
                  <a:schemeClr val="tx1"/>
                </a:solidFill>
                <a:latin typeface="Arial"/>
                <a:cs typeface="Arial"/>
              </a:rPr>
              <a:t> </a:t>
            </a:r>
            <a:r>
              <a:rPr lang="en-GB" sz="2200" b="1" spc="-10" dirty="0">
                <a:solidFill>
                  <a:schemeClr val="tx1"/>
                </a:solidFill>
                <a:latin typeface="Arial"/>
                <a:cs typeface="Arial"/>
              </a:rPr>
              <a:t>Background</a:t>
            </a:r>
            <a:endParaRPr lang="en-GB" sz="2200" dirty="0">
              <a:solidFill>
                <a:schemeClr val="tx1"/>
              </a:solidFill>
              <a:latin typeface="Arial"/>
              <a:cs typeface="Arial"/>
            </a:endParaRPr>
          </a:p>
          <a:p>
            <a:pPr>
              <a:lnSpc>
                <a:spcPct val="150000"/>
              </a:lnSpc>
            </a:pPr>
            <a:r>
              <a:rPr lang="en-US" sz="1200" dirty="0"/>
              <a:t>Alicia Laundry Solutions Ltd (ALS) operates in a fast-evolving industry that has faced significant disruptions due to the COVID-19 pandemic, rising utility and production costs, and increased competition. As a company offering large-scale laundry services—including handling hospital linen—ALS must adopt new systems to remain competitive, compliant, and customer-focused.</a:t>
            </a:r>
            <a:endParaRPr lang="en-KE" sz="1200" dirty="0"/>
          </a:p>
          <a:p>
            <a:pPr>
              <a:lnSpc>
                <a:spcPct val="150000"/>
              </a:lnSpc>
            </a:pPr>
            <a:r>
              <a:rPr lang="en-US" sz="1200" dirty="0"/>
              <a:t>This change initiative focuses on transforming </a:t>
            </a:r>
            <a:r>
              <a:rPr lang="en-US" sz="1200" b="1" dirty="0"/>
              <a:t>organizational processes</a:t>
            </a:r>
            <a:r>
              <a:rPr lang="en-US" sz="1200" dirty="0"/>
              <a:t>, with a strong focus on operational efficiency, customer service delivery, and environmental sustainability. The project applies </a:t>
            </a:r>
            <a:r>
              <a:rPr lang="en-US" sz="1200" b="1" dirty="0"/>
              <a:t>Kotter’s 8-Step Change Model</a:t>
            </a:r>
            <a:r>
              <a:rPr lang="en-US" sz="1200" dirty="0"/>
              <a:t> to guide the implementation of a comprehensive change plan. This model offers a proven structure for leading organizational transformation by aligning both rational strategies and emotional engagement within teams.</a:t>
            </a:r>
            <a:endParaRPr lang="en-KE" sz="1200" dirty="0"/>
          </a:p>
          <a:p>
            <a:pPr>
              <a:lnSpc>
                <a:spcPct val="150000"/>
              </a:lnSpc>
            </a:pPr>
            <a:r>
              <a:rPr lang="en-US" sz="1200" dirty="0"/>
              <a:t>By initiating this project, ALS seeks to not only respond to external pressures but also to build an internal culture of innovation, adaptability, and continuous improvement. The end goal is to position the company as the top choice for sustainable laundry services in Kenya over the next three years.</a:t>
            </a:r>
            <a:endParaRPr lang="en-GB" sz="1200" dirty="0"/>
          </a:p>
          <a:p>
            <a:pPr>
              <a:lnSpc>
                <a:spcPct val="150000"/>
              </a:lnSpc>
            </a:pPr>
            <a:endParaRPr lang="en-GB" sz="1200" b="1" spc="-25" dirty="0">
              <a:solidFill>
                <a:schemeClr val="tx1"/>
              </a:solidFill>
              <a:latin typeface="Arial"/>
              <a:cs typeface="Arial"/>
            </a:endParaRPr>
          </a:p>
          <a:p>
            <a:pPr>
              <a:lnSpc>
                <a:spcPct val="150000"/>
              </a:lnSpc>
            </a:pPr>
            <a:r>
              <a:rPr sz="2200" b="1" spc="-25" dirty="0">
                <a:solidFill>
                  <a:schemeClr val="tx1"/>
                </a:solidFill>
                <a:latin typeface="Arial"/>
                <a:cs typeface="Arial"/>
              </a:rPr>
              <a:t>1.</a:t>
            </a:r>
            <a:r>
              <a:rPr lang="en-GB" sz="2200" b="1" spc="-25" dirty="0">
                <a:solidFill>
                  <a:schemeClr val="tx1"/>
                </a:solidFill>
                <a:latin typeface="Arial"/>
                <a:cs typeface="Arial"/>
              </a:rPr>
              <a:t>	</a:t>
            </a:r>
            <a:r>
              <a:rPr sz="2200" b="1" dirty="0">
                <a:solidFill>
                  <a:schemeClr val="tx1"/>
                </a:solidFill>
                <a:latin typeface="Arial"/>
                <a:cs typeface="Arial"/>
              </a:rPr>
              <a:t>Creation</a:t>
            </a:r>
            <a:r>
              <a:rPr sz="2200" b="1" spc="-55" dirty="0">
                <a:solidFill>
                  <a:schemeClr val="tx1"/>
                </a:solidFill>
                <a:latin typeface="Arial"/>
                <a:cs typeface="Arial"/>
              </a:rPr>
              <a:t> </a:t>
            </a:r>
            <a:r>
              <a:rPr sz="2200" b="1" dirty="0">
                <a:solidFill>
                  <a:schemeClr val="tx1"/>
                </a:solidFill>
                <a:latin typeface="Arial"/>
                <a:cs typeface="Arial"/>
              </a:rPr>
              <a:t>of</a:t>
            </a:r>
            <a:r>
              <a:rPr sz="2200" b="1" spc="-45" dirty="0">
                <a:solidFill>
                  <a:schemeClr val="tx1"/>
                </a:solidFill>
                <a:latin typeface="Arial"/>
                <a:cs typeface="Arial"/>
              </a:rPr>
              <a:t> </a:t>
            </a:r>
            <a:r>
              <a:rPr sz="2200" b="1" dirty="0">
                <a:solidFill>
                  <a:schemeClr val="tx1"/>
                </a:solidFill>
                <a:latin typeface="Arial"/>
                <a:cs typeface="Arial"/>
              </a:rPr>
              <a:t>Urgency</a:t>
            </a:r>
            <a:r>
              <a:rPr sz="2200" b="1" spc="-50" dirty="0">
                <a:solidFill>
                  <a:schemeClr val="tx1"/>
                </a:solidFill>
                <a:latin typeface="Arial"/>
                <a:cs typeface="Arial"/>
              </a:rPr>
              <a:t> </a:t>
            </a:r>
            <a:r>
              <a:rPr sz="2200" b="1" dirty="0">
                <a:solidFill>
                  <a:schemeClr val="tx1"/>
                </a:solidFill>
                <a:latin typeface="Arial"/>
                <a:cs typeface="Arial"/>
              </a:rPr>
              <a:t>at</a:t>
            </a:r>
            <a:r>
              <a:rPr sz="2200" b="1" spc="-40" dirty="0">
                <a:solidFill>
                  <a:schemeClr val="tx1"/>
                </a:solidFill>
                <a:latin typeface="Arial"/>
                <a:cs typeface="Arial"/>
              </a:rPr>
              <a:t> </a:t>
            </a:r>
            <a:r>
              <a:rPr sz="2200" b="1" spc="-25" dirty="0">
                <a:solidFill>
                  <a:schemeClr val="tx1"/>
                </a:solidFill>
                <a:latin typeface="Arial"/>
                <a:cs typeface="Arial"/>
              </a:rPr>
              <a:t>ALS</a:t>
            </a:r>
            <a:endParaRPr sz="2200" dirty="0">
              <a:solidFill>
                <a:schemeClr val="tx1"/>
              </a:solidFill>
              <a:latin typeface="Arial"/>
              <a:cs typeface="Arial"/>
            </a:endParaRPr>
          </a:p>
          <a:p>
            <a:pPr>
              <a:lnSpc>
                <a:spcPct val="150000"/>
              </a:lnSpc>
            </a:pPr>
            <a:r>
              <a:rPr lang="en-US" sz="1200" dirty="0"/>
              <a:t>ALS recognizes the urgent need for change due to several pressing challenges: post-COVID health protocols, rising costs of electricity, water, and chemicals, rapid technological shifts, and unethical competition practices such as client bribery.</a:t>
            </a:r>
            <a:endParaRPr lang="en-KE" sz="1200" dirty="0"/>
          </a:p>
          <a:p>
            <a:pPr>
              <a:lnSpc>
                <a:spcPct val="150000"/>
              </a:lnSpc>
            </a:pPr>
            <a:r>
              <a:rPr lang="en-US" sz="1200" dirty="0"/>
              <a:t>These issues directly threaten profitability, service quality, and market position. Using </a:t>
            </a:r>
            <a:r>
              <a:rPr lang="en-US" sz="1200" b="1" dirty="0"/>
              <a:t>Kurt Lewin’s Change Model</a:t>
            </a:r>
            <a:r>
              <a:rPr lang="en-US" sz="1200" dirty="0"/>
              <a:t> and </a:t>
            </a:r>
            <a:r>
              <a:rPr lang="en-US" sz="1200" b="1" dirty="0"/>
              <a:t>Force Field Analysis</a:t>
            </a:r>
            <a:r>
              <a:rPr lang="en-US" sz="1200" dirty="0"/>
              <a:t>, ALS identifies key driving forces (efficiency, sustainability, innovation) and restraining forces (cost, resistance, outdated systems). This awareness has created the momentum needed to act now before further market erosion occurs.</a:t>
            </a:r>
            <a:endParaRPr lang="en-KE" sz="1200" dirty="0"/>
          </a:p>
          <a:p>
            <a:pPr>
              <a:lnSpc>
                <a:spcPct val="150000"/>
              </a:lnSpc>
            </a:pPr>
            <a:r>
              <a:rPr lang="en-US" sz="1200" dirty="0"/>
              <a:t>Establishing urgency ensures that all stakeholders understand the risks of inaction and the benefits of change, setting the tone for the entire transformation journey.</a:t>
            </a:r>
            <a:endParaRPr lang="en-KE"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5</a:t>
            </a:fld>
            <a:endParaRPr spc="-25" dirty="0"/>
          </a:p>
        </p:txBody>
      </p:sp>
      <p:sp>
        <p:nvSpPr>
          <p:cNvPr id="3" name="object 3"/>
          <p:cNvSpPr txBox="1"/>
          <p:nvPr/>
        </p:nvSpPr>
        <p:spPr>
          <a:xfrm>
            <a:off x="910272" y="381000"/>
            <a:ext cx="5951855" cy="7410811"/>
          </a:xfrm>
          <a:prstGeom prst="rect">
            <a:avLst/>
          </a:prstGeom>
        </p:spPr>
        <p:txBody>
          <a:bodyPr vert="horz" wrap="square" lIns="0" tIns="12065" rIns="0" bIns="0" rtlCol="0">
            <a:spAutoFit/>
          </a:bodyPr>
          <a:lstStyle/>
          <a:p>
            <a:pPr marL="926465" indent="-685165">
              <a:lnSpc>
                <a:spcPct val="150000"/>
              </a:lnSpc>
              <a:spcBef>
                <a:spcPts val="95"/>
              </a:spcBef>
              <a:buAutoNum type="arabicPeriod" startAt="2"/>
              <a:tabLst>
                <a:tab pos="926465" algn="l"/>
              </a:tabLst>
            </a:pPr>
            <a:r>
              <a:rPr sz="2200" b="1" dirty="0">
                <a:solidFill>
                  <a:schemeClr val="tx1"/>
                </a:solidFill>
                <a:latin typeface="Arial"/>
                <a:cs typeface="Arial"/>
              </a:rPr>
              <a:t>Team</a:t>
            </a:r>
            <a:r>
              <a:rPr sz="2200" b="1" spc="-55" dirty="0">
                <a:solidFill>
                  <a:schemeClr val="tx1"/>
                </a:solidFill>
                <a:latin typeface="Arial"/>
                <a:cs typeface="Arial"/>
              </a:rPr>
              <a:t> </a:t>
            </a:r>
            <a:r>
              <a:rPr sz="2200" b="1" dirty="0">
                <a:solidFill>
                  <a:schemeClr val="tx1"/>
                </a:solidFill>
                <a:latin typeface="Arial"/>
                <a:cs typeface="Arial"/>
              </a:rPr>
              <a:t>work</a:t>
            </a:r>
            <a:r>
              <a:rPr sz="2200" b="1" spc="-55" dirty="0">
                <a:solidFill>
                  <a:schemeClr val="tx1"/>
                </a:solidFill>
                <a:latin typeface="Arial"/>
                <a:cs typeface="Arial"/>
              </a:rPr>
              <a:t> </a:t>
            </a:r>
            <a:r>
              <a:rPr sz="2200" b="1" dirty="0">
                <a:solidFill>
                  <a:schemeClr val="tx1"/>
                </a:solidFill>
                <a:latin typeface="Arial"/>
                <a:cs typeface="Arial"/>
              </a:rPr>
              <a:t>and</a:t>
            </a:r>
            <a:r>
              <a:rPr sz="2200" b="1" spc="-50" dirty="0">
                <a:solidFill>
                  <a:schemeClr val="tx1"/>
                </a:solidFill>
                <a:latin typeface="Arial"/>
                <a:cs typeface="Arial"/>
              </a:rPr>
              <a:t> </a:t>
            </a:r>
            <a:r>
              <a:rPr sz="2200" b="1" dirty="0">
                <a:solidFill>
                  <a:schemeClr val="tx1"/>
                </a:solidFill>
                <a:latin typeface="Arial"/>
                <a:cs typeface="Arial"/>
              </a:rPr>
              <a:t>Guiding</a:t>
            </a:r>
            <a:r>
              <a:rPr sz="2200" b="1" spc="-50" dirty="0">
                <a:solidFill>
                  <a:schemeClr val="tx1"/>
                </a:solidFill>
                <a:latin typeface="Arial"/>
                <a:cs typeface="Arial"/>
              </a:rPr>
              <a:t> </a:t>
            </a:r>
            <a:r>
              <a:rPr sz="2200" b="1" spc="-10" dirty="0">
                <a:solidFill>
                  <a:schemeClr val="tx1"/>
                </a:solidFill>
                <a:latin typeface="Arial"/>
                <a:cs typeface="Arial"/>
              </a:rPr>
              <a:t>Coalition</a:t>
            </a:r>
            <a:endParaRPr sz="2200" dirty="0">
              <a:solidFill>
                <a:schemeClr val="tx1"/>
              </a:solidFill>
              <a:latin typeface="Arial"/>
              <a:cs typeface="Arial"/>
            </a:endParaRPr>
          </a:p>
          <a:p>
            <a:pPr>
              <a:lnSpc>
                <a:spcPct val="150000"/>
              </a:lnSpc>
            </a:pPr>
            <a:r>
              <a:rPr lang="en-US" sz="1200" dirty="0"/>
              <a:t>To lead the change effort effectively, ALS has established a committed guiding coalition made up of leaders from across departments. Each member was carefully selected based on their influence, professional expertise, and ability to inspire and mobilize others.</a:t>
            </a:r>
            <a:endParaRPr lang="en-KE" sz="1200" dirty="0"/>
          </a:p>
          <a:p>
            <a:pPr>
              <a:lnSpc>
                <a:spcPct val="150000"/>
              </a:lnSpc>
            </a:pPr>
            <a:r>
              <a:rPr lang="en-US" sz="1200" b="1" dirty="0"/>
              <a:t>Guiding Coalition Members &amp; Roles:</a:t>
            </a:r>
            <a:endParaRPr lang="en-KE" sz="1200" dirty="0"/>
          </a:p>
          <a:p>
            <a:pPr lvl="0">
              <a:lnSpc>
                <a:spcPct val="150000"/>
              </a:lnSpc>
            </a:pPr>
            <a:r>
              <a:rPr lang="en-US" sz="1200" b="1" dirty="0" err="1"/>
              <a:t>Collince</a:t>
            </a:r>
            <a:r>
              <a:rPr lang="en-US" sz="1200" b="1" dirty="0"/>
              <a:t> Okoth Mbare – Co director</a:t>
            </a:r>
            <a:r>
              <a:rPr lang="en-US" sz="1200" dirty="0"/>
              <a:t> </a:t>
            </a:r>
            <a:br>
              <a:rPr lang="en-US" sz="1200" dirty="0"/>
            </a:br>
            <a:r>
              <a:rPr lang="en-US" sz="1200" dirty="0"/>
              <a:t>Leads the visioning process, oversees implementation, and ensures alignment with company goals. Also serves as the project owner.</a:t>
            </a:r>
            <a:endParaRPr lang="en-KE" sz="1200" dirty="0"/>
          </a:p>
          <a:p>
            <a:pPr lvl="0">
              <a:lnSpc>
                <a:spcPct val="150000"/>
              </a:lnSpc>
            </a:pPr>
            <a:r>
              <a:rPr lang="en-US" sz="1200" b="1" dirty="0"/>
              <a:t>Joshua Oliver  – Operations Manager</a:t>
            </a:r>
            <a:br>
              <a:rPr lang="en-US" sz="1200" dirty="0"/>
            </a:br>
            <a:r>
              <a:rPr lang="en-US" sz="1200" dirty="0"/>
              <a:t>Brings hands-on experience in laundry workflows and will optimize service processes and machine efficiency.</a:t>
            </a:r>
            <a:endParaRPr lang="en-KE" sz="1200" dirty="0"/>
          </a:p>
          <a:p>
            <a:pPr lvl="0">
              <a:lnSpc>
                <a:spcPct val="150000"/>
              </a:lnSpc>
            </a:pPr>
            <a:r>
              <a:rPr lang="en-US" sz="1200" b="1" dirty="0"/>
              <a:t>Alice Anyango  – Financial Analyst</a:t>
            </a:r>
            <a:br>
              <a:rPr lang="en-US" sz="1200" dirty="0"/>
            </a:br>
            <a:r>
              <a:rPr lang="en-US" sz="1200" dirty="0"/>
              <a:t>Oversees budgeting, cost analysis, and ensures all change initiatives are financially viable.</a:t>
            </a:r>
            <a:endParaRPr lang="en-KE" sz="1200" dirty="0"/>
          </a:p>
          <a:p>
            <a:pPr lvl="0">
              <a:lnSpc>
                <a:spcPct val="150000"/>
              </a:lnSpc>
            </a:pPr>
            <a:r>
              <a:rPr lang="en-US" sz="1200" b="1" dirty="0"/>
              <a:t>Diana Atieno – Human Resource Manager</a:t>
            </a:r>
            <a:br>
              <a:rPr lang="en-US" sz="1200" dirty="0"/>
            </a:br>
            <a:r>
              <a:rPr lang="en-US" sz="1200" dirty="0"/>
              <a:t>Leads staff engagement, training, and manages resistance through open communication and coaching.</a:t>
            </a:r>
            <a:endParaRPr lang="en-KE" sz="1200" dirty="0"/>
          </a:p>
          <a:p>
            <a:pPr lvl="0">
              <a:lnSpc>
                <a:spcPct val="150000"/>
              </a:lnSpc>
            </a:pPr>
            <a:r>
              <a:rPr lang="en-US" sz="1200" b="1" dirty="0"/>
              <a:t>James Mwangi – Technology &amp; Systems Advisor</a:t>
            </a:r>
            <a:br>
              <a:rPr lang="en-US" sz="1200" dirty="0"/>
            </a:br>
            <a:r>
              <a:rPr lang="en-US" sz="1200" dirty="0"/>
              <a:t>Drives digital upgrades and equipment automation to improve service quality and speed.</a:t>
            </a:r>
            <a:endParaRPr lang="en-KE" sz="1200" dirty="0"/>
          </a:p>
          <a:p>
            <a:pPr lvl="0">
              <a:lnSpc>
                <a:spcPct val="150000"/>
              </a:lnSpc>
            </a:pPr>
            <a:r>
              <a:rPr lang="en-US" sz="1200" b="1" dirty="0"/>
              <a:t>Esther Nyambura – Client Relations &amp; Marketing Lead</a:t>
            </a:r>
            <a:br>
              <a:rPr lang="en-US" sz="1200" dirty="0"/>
            </a:br>
            <a:r>
              <a:rPr lang="en-US" sz="1200" dirty="0"/>
              <a:t>Ensures customers are informed and engaged, and spearheads campaigns to promote ALS’s new direction.</a:t>
            </a:r>
            <a:endParaRPr lang="en-KE" sz="1200" dirty="0"/>
          </a:p>
          <a:p>
            <a:pPr>
              <a:lnSpc>
                <a:spcPct val="150000"/>
              </a:lnSpc>
            </a:pPr>
            <a:r>
              <a:rPr lang="en-US" sz="1200" dirty="0"/>
              <a:t>Together, this multidisciplinary team brings a mix of technical know-how, people skills, and leadership strength. Regular strategy meetings and joint workshops are fostering unity, transparency, and accountability throughout the change process.</a:t>
            </a:r>
            <a:endParaRPr lang="en-KE"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6</a:t>
            </a:fld>
            <a:endParaRPr spc="-25" dirty="0"/>
          </a:p>
        </p:txBody>
      </p:sp>
      <p:sp>
        <p:nvSpPr>
          <p:cNvPr id="2" name="object 2"/>
          <p:cNvSpPr txBox="1"/>
          <p:nvPr/>
        </p:nvSpPr>
        <p:spPr>
          <a:xfrm>
            <a:off x="902004" y="435356"/>
            <a:ext cx="5971540" cy="8457893"/>
          </a:xfrm>
          <a:prstGeom prst="rect">
            <a:avLst/>
          </a:prstGeom>
        </p:spPr>
        <p:txBody>
          <a:bodyPr vert="horz" wrap="square" lIns="0" tIns="12700" rIns="0" bIns="0" rtlCol="0">
            <a:spAutoFit/>
          </a:bodyPr>
          <a:lstStyle/>
          <a:p>
            <a:pPr marR="5080" algn="r">
              <a:lnSpc>
                <a:spcPct val="100000"/>
              </a:lnSpc>
              <a:spcBef>
                <a:spcPts val="100"/>
              </a:spcBef>
            </a:pPr>
            <a:r>
              <a:rPr sz="1100" spc="-50" dirty="0">
                <a:latin typeface="Calibri"/>
                <a:cs typeface="Calibri"/>
              </a:rPr>
              <a:t>6</a:t>
            </a:r>
            <a:endParaRPr sz="1100" dirty="0">
              <a:latin typeface="Arial MT"/>
              <a:cs typeface="Arial MT"/>
            </a:endParaRPr>
          </a:p>
          <a:p>
            <a:pPr marL="926465" lvl="1" indent="-685165">
              <a:lnSpc>
                <a:spcPct val="150000"/>
              </a:lnSpc>
              <a:buAutoNum type="arabicPeriod" startAt="3"/>
              <a:tabLst>
                <a:tab pos="926465" algn="l"/>
              </a:tabLst>
            </a:pPr>
            <a:r>
              <a:rPr lang="en-US" sz="1800" b="1" dirty="0"/>
              <a:t>Developing a strategic vision and initiatives</a:t>
            </a:r>
          </a:p>
          <a:p>
            <a:pPr>
              <a:lnSpc>
                <a:spcPct val="150000"/>
              </a:lnSpc>
            </a:pPr>
            <a:r>
              <a:rPr lang="en-US" sz="1200" b="1" dirty="0"/>
              <a:t>Strategic Vision:</a:t>
            </a:r>
            <a:br>
              <a:rPr lang="en-US" sz="1200" dirty="0"/>
            </a:br>
            <a:r>
              <a:rPr lang="en-US" sz="1200" dirty="0"/>
              <a:t>To position ALS as the leading provider of </a:t>
            </a:r>
            <a:r>
              <a:rPr lang="en-US" sz="1200" b="1" dirty="0"/>
              <a:t>sustainable, efficient, and customer-centered laundry solutions</a:t>
            </a:r>
            <a:r>
              <a:rPr lang="en-US" sz="1200" dirty="0"/>
              <a:t> in Kenya within the next three years.</a:t>
            </a:r>
            <a:endParaRPr lang="en-KE" sz="1200" dirty="0"/>
          </a:p>
          <a:p>
            <a:pPr>
              <a:lnSpc>
                <a:spcPct val="150000"/>
              </a:lnSpc>
            </a:pPr>
            <a:r>
              <a:rPr lang="en-US" sz="1200" b="1" dirty="0"/>
              <a:t>Mission:</a:t>
            </a:r>
            <a:br>
              <a:rPr lang="en-US" sz="1200" dirty="0"/>
            </a:br>
            <a:r>
              <a:rPr lang="en-US" sz="1200" dirty="0"/>
              <a:t>To deliver reliable, affordable, and eco-friendly laundry services while embracing innovation and building community trust.</a:t>
            </a:r>
            <a:endParaRPr lang="en-KE" sz="1200" dirty="0"/>
          </a:p>
          <a:p>
            <a:pPr>
              <a:lnSpc>
                <a:spcPct val="150000"/>
              </a:lnSpc>
            </a:pPr>
            <a:r>
              <a:rPr lang="en-US" sz="1200" b="1" dirty="0"/>
              <a:t>Core Values:</a:t>
            </a:r>
            <a:br>
              <a:rPr lang="en-US" sz="1200" dirty="0"/>
            </a:br>
            <a:r>
              <a:rPr lang="en-US" sz="1200" dirty="0"/>
              <a:t>Sustainability · Innovation · Integrity · Excellence · Community</a:t>
            </a:r>
            <a:endParaRPr lang="en-KE" sz="1200" dirty="0"/>
          </a:p>
          <a:p>
            <a:pPr>
              <a:lnSpc>
                <a:spcPct val="150000"/>
              </a:lnSpc>
            </a:pPr>
            <a:r>
              <a:rPr lang="en-US" sz="1200" b="1" dirty="0"/>
              <a:t>Strategic Goal:</a:t>
            </a:r>
            <a:br>
              <a:rPr lang="en-US" sz="1200" dirty="0"/>
            </a:br>
            <a:r>
              <a:rPr lang="en-US" sz="1200" dirty="0"/>
              <a:t>Grow ALS’s market share in the sustainable laundry sector by </a:t>
            </a:r>
            <a:r>
              <a:rPr lang="en-US" sz="1200" b="1" dirty="0"/>
              <a:t>20% within 3 years</a:t>
            </a:r>
            <a:r>
              <a:rPr lang="en-US" sz="1200" dirty="0"/>
              <a:t>.</a:t>
            </a:r>
            <a:endParaRPr lang="en-KE" sz="1200" dirty="0"/>
          </a:p>
          <a:p>
            <a:pPr>
              <a:lnSpc>
                <a:spcPct val="150000"/>
              </a:lnSpc>
            </a:pPr>
            <a:r>
              <a:rPr lang="en-US" sz="1200" b="1" dirty="0"/>
              <a:t>SMART Objective:</a:t>
            </a:r>
            <a:br>
              <a:rPr lang="en-US" sz="1200" dirty="0"/>
            </a:br>
            <a:r>
              <a:rPr lang="en-US" sz="1200" dirty="0"/>
              <a:t>Launch </a:t>
            </a:r>
            <a:r>
              <a:rPr lang="en-US" sz="1200" b="1" dirty="0"/>
              <a:t>three new sustainable laundry branches</a:t>
            </a:r>
            <a:r>
              <a:rPr lang="en-US" sz="1200" dirty="0"/>
              <a:t> in key urban areas within the next </a:t>
            </a:r>
            <a:r>
              <a:rPr lang="en-US" sz="1200" b="1" dirty="0"/>
              <a:t>24 months</a:t>
            </a:r>
            <a:r>
              <a:rPr lang="en-US" sz="1200" dirty="0"/>
              <a:t>.</a:t>
            </a:r>
            <a:endParaRPr lang="en-KE" sz="1200" dirty="0"/>
          </a:p>
          <a:p>
            <a:pPr>
              <a:lnSpc>
                <a:spcPct val="150000"/>
              </a:lnSpc>
            </a:pPr>
            <a:r>
              <a:rPr lang="en-US" sz="1200" b="1" dirty="0"/>
              <a:t>Key Initiatives:</a:t>
            </a:r>
            <a:endParaRPr lang="en-KE" sz="1200" dirty="0"/>
          </a:p>
          <a:p>
            <a:pPr lvl="0">
              <a:lnSpc>
                <a:spcPct val="150000"/>
              </a:lnSpc>
            </a:pPr>
            <a:r>
              <a:rPr lang="en-US" sz="1200" b="1" dirty="0"/>
              <a:t>Short-Term (0–6 months):</a:t>
            </a:r>
            <a:endParaRPr lang="en-KE" sz="1200" dirty="0"/>
          </a:p>
          <a:p>
            <a:pPr lvl="1">
              <a:lnSpc>
                <a:spcPct val="150000"/>
              </a:lnSpc>
            </a:pPr>
            <a:r>
              <a:rPr lang="en-US" sz="1200" dirty="0"/>
              <a:t>Upgrade current equipment to energy-efficient models</a:t>
            </a:r>
            <a:endParaRPr lang="en-KE" sz="1200" dirty="0"/>
          </a:p>
          <a:p>
            <a:pPr lvl="1">
              <a:lnSpc>
                <a:spcPct val="150000"/>
              </a:lnSpc>
            </a:pPr>
            <a:r>
              <a:rPr lang="en-US" sz="1200" dirty="0"/>
              <a:t>Staff training on eco-friendly detergents and hygiene protocols</a:t>
            </a:r>
            <a:endParaRPr lang="en-KE" sz="1200" dirty="0"/>
          </a:p>
          <a:p>
            <a:pPr lvl="1">
              <a:lnSpc>
                <a:spcPct val="150000"/>
              </a:lnSpc>
            </a:pPr>
            <a:r>
              <a:rPr lang="en-US" sz="1200" dirty="0"/>
              <a:t>Initiate a digital client feedback system</a:t>
            </a:r>
            <a:endParaRPr lang="en-KE" sz="1200" dirty="0"/>
          </a:p>
          <a:p>
            <a:pPr lvl="0">
              <a:lnSpc>
                <a:spcPct val="150000"/>
              </a:lnSpc>
            </a:pPr>
            <a:r>
              <a:rPr lang="en-US" sz="1200" b="1" dirty="0"/>
              <a:t>Medium-Term (6–18 months):</a:t>
            </a:r>
            <a:endParaRPr lang="en-KE" sz="1200" dirty="0"/>
          </a:p>
          <a:p>
            <a:pPr lvl="1">
              <a:lnSpc>
                <a:spcPct val="150000"/>
              </a:lnSpc>
            </a:pPr>
            <a:r>
              <a:rPr lang="en-US" sz="1200" dirty="0"/>
              <a:t>Open one new branch in Nairobi or Thika</a:t>
            </a:r>
            <a:endParaRPr lang="en-KE" sz="1200" dirty="0"/>
          </a:p>
          <a:p>
            <a:pPr lvl="1">
              <a:lnSpc>
                <a:spcPct val="150000"/>
              </a:lnSpc>
            </a:pPr>
            <a:r>
              <a:rPr lang="en-US" sz="1200" dirty="0"/>
              <a:t>Launch a targeted digital marketing campaign</a:t>
            </a:r>
            <a:endParaRPr lang="en-KE" sz="1200" dirty="0"/>
          </a:p>
          <a:p>
            <a:pPr lvl="1">
              <a:lnSpc>
                <a:spcPct val="150000"/>
              </a:lnSpc>
            </a:pPr>
            <a:r>
              <a:rPr lang="en-US" sz="1200" dirty="0"/>
              <a:t>Secure local partnerships for eco-supply chains</a:t>
            </a:r>
            <a:endParaRPr lang="en-KE" sz="1200" dirty="0"/>
          </a:p>
          <a:p>
            <a:pPr lvl="0">
              <a:lnSpc>
                <a:spcPct val="150000"/>
              </a:lnSpc>
            </a:pPr>
            <a:r>
              <a:rPr lang="en-US" sz="1200" b="1" dirty="0"/>
              <a:t>Long-Term (18–36 months):</a:t>
            </a:r>
            <a:endParaRPr lang="en-KE" sz="1200" dirty="0"/>
          </a:p>
          <a:p>
            <a:pPr lvl="1">
              <a:lnSpc>
                <a:spcPct val="150000"/>
              </a:lnSpc>
            </a:pPr>
            <a:r>
              <a:rPr lang="en-US" sz="1200" dirty="0"/>
              <a:t>Open two additional branches in high-demand regions</a:t>
            </a:r>
            <a:endParaRPr lang="en-KE" sz="1200" dirty="0"/>
          </a:p>
          <a:p>
            <a:pPr lvl="1">
              <a:lnSpc>
                <a:spcPct val="150000"/>
              </a:lnSpc>
            </a:pPr>
            <a:r>
              <a:rPr lang="en-US" sz="1200" dirty="0"/>
              <a:t>Invest in green energy solutions (e.g. solar heating for water)</a:t>
            </a:r>
            <a:endParaRPr lang="en-KE" sz="1200" dirty="0"/>
          </a:p>
          <a:p>
            <a:pPr lvl="1">
              <a:lnSpc>
                <a:spcPct val="150000"/>
              </a:lnSpc>
            </a:pPr>
            <a:r>
              <a:rPr lang="en-US" sz="1200" dirty="0"/>
              <a:t>Develop a mobile app for customer scheduling and tracking</a:t>
            </a:r>
            <a:endParaRPr lang="en-KE" sz="1200" dirty="0"/>
          </a:p>
          <a:p>
            <a:pPr>
              <a:lnSpc>
                <a:spcPct val="150000"/>
              </a:lnSpc>
            </a:pPr>
            <a:r>
              <a:rPr lang="en-US" sz="1200" dirty="0"/>
              <a:t>A detailed budget and ownership matrix have been developed to ensure timely execution of each initiative.</a:t>
            </a:r>
            <a:endParaRPr lang="en-KE"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7</a:t>
            </a:fld>
            <a:endParaRPr spc="-25" dirty="0"/>
          </a:p>
        </p:txBody>
      </p:sp>
      <p:sp>
        <p:nvSpPr>
          <p:cNvPr id="2" name="object 2"/>
          <p:cNvSpPr txBox="1"/>
          <p:nvPr/>
        </p:nvSpPr>
        <p:spPr>
          <a:xfrm>
            <a:off x="902004" y="435356"/>
            <a:ext cx="5971540" cy="7411452"/>
          </a:xfrm>
          <a:prstGeom prst="rect">
            <a:avLst/>
          </a:prstGeom>
        </p:spPr>
        <p:txBody>
          <a:bodyPr vert="horz" wrap="square" lIns="0" tIns="12700" rIns="0" bIns="0" rtlCol="0">
            <a:spAutoFit/>
          </a:bodyPr>
          <a:lstStyle/>
          <a:p>
            <a:pPr marR="5080" algn="r">
              <a:lnSpc>
                <a:spcPct val="100000"/>
              </a:lnSpc>
              <a:spcBef>
                <a:spcPts val="100"/>
              </a:spcBef>
            </a:pPr>
            <a:r>
              <a:rPr sz="1100" spc="-50" dirty="0">
                <a:latin typeface="Calibri"/>
                <a:cs typeface="Calibri"/>
              </a:rPr>
              <a:t>7</a:t>
            </a:r>
            <a:endParaRPr sz="1100" dirty="0">
              <a:latin typeface="Arial MT"/>
              <a:cs typeface="Arial MT"/>
            </a:endParaRPr>
          </a:p>
          <a:p>
            <a:pPr marL="241300">
              <a:lnSpc>
                <a:spcPct val="100000"/>
              </a:lnSpc>
              <a:tabLst>
                <a:tab pos="926465" algn="l"/>
              </a:tabLst>
            </a:pPr>
            <a:r>
              <a:rPr sz="2200" b="1" spc="-25" dirty="0">
                <a:solidFill>
                  <a:schemeClr val="tx1"/>
                </a:solidFill>
                <a:latin typeface="Arial"/>
                <a:cs typeface="Arial"/>
              </a:rPr>
              <a:t>4.</a:t>
            </a:r>
            <a:r>
              <a:rPr sz="2200" b="1" dirty="0">
                <a:solidFill>
                  <a:schemeClr val="tx1"/>
                </a:solidFill>
                <a:latin typeface="Arial"/>
                <a:cs typeface="Arial"/>
              </a:rPr>
              <a:t>	Enlisting</a:t>
            </a:r>
            <a:r>
              <a:rPr sz="2200" b="1" spc="-70" dirty="0">
                <a:solidFill>
                  <a:schemeClr val="tx1"/>
                </a:solidFill>
                <a:latin typeface="Arial"/>
                <a:cs typeface="Arial"/>
              </a:rPr>
              <a:t> </a:t>
            </a:r>
            <a:r>
              <a:rPr sz="2200" b="1" dirty="0">
                <a:solidFill>
                  <a:schemeClr val="tx1"/>
                </a:solidFill>
                <a:latin typeface="Arial"/>
                <a:cs typeface="Arial"/>
              </a:rPr>
              <a:t>a</a:t>
            </a:r>
            <a:r>
              <a:rPr sz="2200" b="1" spc="-75" dirty="0">
                <a:solidFill>
                  <a:schemeClr val="tx1"/>
                </a:solidFill>
                <a:latin typeface="Arial"/>
                <a:cs typeface="Arial"/>
              </a:rPr>
              <a:t> </a:t>
            </a:r>
            <a:r>
              <a:rPr sz="2200" b="1" dirty="0">
                <a:solidFill>
                  <a:schemeClr val="tx1"/>
                </a:solidFill>
                <a:latin typeface="Arial"/>
                <a:cs typeface="Arial"/>
              </a:rPr>
              <a:t>Volunteer</a:t>
            </a:r>
            <a:r>
              <a:rPr sz="2200" b="1" spc="-60" dirty="0">
                <a:solidFill>
                  <a:schemeClr val="tx1"/>
                </a:solidFill>
                <a:latin typeface="Arial"/>
                <a:cs typeface="Arial"/>
              </a:rPr>
              <a:t> </a:t>
            </a:r>
            <a:r>
              <a:rPr sz="2200" b="1" spc="-20" dirty="0">
                <a:solidFill>
                  <a:schemeClr val="tx1"/>
                </a:solidFill>
                <a:latin typeface="Arial"/>
                <a:cs typeface="Arial"/>
              </a:rPr>
              <a:t>Army</a:t>
            </a:r>
            <a:endParaRPr sz="2200" dirty="0">
              <a:solidFill>
                <a:schemeClr val="tx1"/>
              </a:solidFill>
              <a:latin typeface="Arial"/>
              <a:cs typeface="Arial"/>
            </a:endParaRPr>
          </a:p>
          <a:p>
            <a:pPr>
              <a:lnSpc>
                <a:spcPct val="150000"/>
              </a:lnSpc>
            </a:pPr>
            <a:r>
              <a:rPr lang="en-US" sz="1200" dirty="0"/>
              <a:t>ALS is mobilizing a strong internal network of change champions—employees who are passionate about growth, adaptable, and respected by their peers. These volunteers will help communicate the vision, model new behaviors, and support implementation at all levels.</a:t>
            </a:r>
            <a:endParaRPr lang="en-KE" sz="1200" dirty="0"/>
          </a:p>
          <a:p>
            <a:pPr>
              <a:lnSpc>
                <a:spcPct val="150000"/>
              </a:lnSpc>
            </a:pPr>
            <a:r>
              <a:rPr lang="en-US" sz="1200" b="1" dirty="0"/>
              <a:t>Key Actions:</a:t>
            </a:r>
            <a:endParaRPr lang="en-KE" sz="1200" dirty="0"/>
          </a:p>
          <a:p>
            <a:pPr lvl="0">
              <a:lnSpc>
                <a:spcPct val="150000"/>
              </a:lnSpc>
            </a:pPr>
            <a:r>
              <a:rPr lang="en-US" sz="1200" b="1" dirty="0"/>
              <a:t>Identification &amp; Recruitment:</a:t>
            </a:r>
            <a:br>
              <a:rPr lang="en-US" sz="1200" dirty="0"/>
            </a:br>
            <a:r>
              <a:rPr lang="en-US" sz="1200" dirty="0"/>
              <a:t>Staff from all departments are being nominated by team leads based on attitude, influence, and initiative.</a:t>
            </a:r>
          </a:p>
          <a:p>
            <a:pPr lvl="0">
              <a:lnSpc>
                <a:spcPct val="150000"/>
              </a:lnSpc>
            </a:pPr>
            <a:endParaRPr lang="en-KE" sz="1200" dirty="0"/>
          </a:p>
          <a:p>
            <a:pPr>
              <a:lnSpc>
                <a:spcPct val="150000"/>
              </a:lnSpc>
            </a:pPr>
            <a:r>
              <a:rPr lang="en-US" sz="1200" b="1" dirty="0"/>
              <a:t> </a:t>
            </a:r>
            <a:r>
              <a:rPr lang="en-US" sz="1200" dirty="0"/>
              <a:t>Example:</a:t>
            </a:r>
            <a:endParaRPr lang="en-KE" sz="1200" dirty="0"/>
          </a:p>
          <a:p>
            <a:pPr lvl="1">
              <a:lnSpc>
                <a:spcPct val="150000"/>
              </a:lnSpc>
            </a:pPr>
            <a:r>
              <a:rPr lang="en-US" sz="1200" i="1" dirty="0"/>
              <a:t>Lucy Achieng (Front Desk Supervisor)</a:t>
            </a:r>
            <a:r>
              <a:rPr lang="en-US" sz="1200" dirty="0"/>
              <a:t> – Influential in customer care team</a:t>
            </a:r>
            <a:endParaRPr lang="en-KE" sz="1200" dirty="0"/>
          </a:p>
          <a:p>
            <a:pPr lvl="1">
              <a:lnSpc>
                <a:spcPct val="150000"/>
              </a:lnSpc>
            </a:pPr>
            <a:r>
              <a:rPr lang="en-US" sz="1200" i="1" dirty="0"/>
              <a:t>Peter Kariuki (Machine Operator)</a:t>
            </a:r>
            <a:r>
              <a:rPr lang="en-US" sz="1200" dirty="0"/>
              <a:t> – Trusted by operations staff</a:t>
            </a:r>
            <a:endParaRPr lang="en-KE" sz="1200" dirty="0"/>
          </a:p>
          <a:p>
            <a:pPr lvl="1">
              <a:lnSpc>
                <a:spcPct val="150000"/>
              </a:lnSpc>
            </a:pPr>
            <a:r>
              <a:rPr lang="en-US" sz="1200" i="1" dirty="0"/>
              <a:t>Faith Mutua (Accounts Assistant)</a:t>
            </a:r>
            <a:r>
              <a:rPr lang="en-US" sz="1200" dirty="0"/>
              <a:t> – Excellent communicator and tech-savvy</a:t>
            </a:r>
            <a:endParaRPr lang="en-KE" sz="1200" dirty="0"/>
          </a:p>
          <a:p>
            <a:pPr lvl="0">
              <a:lnSpc>
                <a:spcPct val="150000"/>
              </a:lnSpc>
            </a:pPr>
            <a:r>
              <a:rPr lang="en-US" sz="1200" b="1" dirty="0"/>
              <a:t>Vision Sharing Forums:</a:t>
            </a:r>
            <a:br>
              <a:rPr lang="en-US" sz="1200" dirty="0"/>
            </a:br>
            <a:r>
              <a:rPr lang="en-US" sz="1200" dirty="0"/>
              <a:t>ALS will host weekly briefing sessions to explain the vision, expected impact, and opportunities for involvement.</a:t>
            </a:r>
            <a:endParaRPr lang="en-KE" sz="1200" dirty="0"/>
          </a:p>
          <a:p>
            <a:pPr lvl="0">
              <a:lnSpc>
                <a:spcPct val="150000"/>
              </a:lnSpc>
            </a:pPr>
            <a:r>
              <a:rPr lang="en-US" sz="1200" b="1" dirty="0"/>
              <a:t>Training &amp; Empowerment:</a:t>
            </a:r>
            <a:br>
              <a:rPr lang="en-US" sz="1200" dirty="0"/>
            </a:br>
            <a:r>
              <a:rPr lang="en-US" sz="1200" dirty="0"/>
              <a:t>Volunteers will receive short practical workshops on communication, leadership, and change adaptation. They’ll be empowered to lead mini-projects and solve challenges in their areas.</a:t>
            </a:r>
            <a:endParaRPr lang="en-KE" sz="1200" dirty="0"/>
          </a:p>
          <a:p>
            <a:pPr lvl="0">
              <a:lnSpc>
                <a:spcPct val="150000"/>
              </a:lnSpc>
            </a:pPr>
            <a:r>
              <a:rPr lang="en-US" sz="1200" b="1" dirty="0"/>
              <a:t>Communication Channels:</a:t>
            </a:r>
            <a:br>
              <a:rPr lang="en-US" sz="1200" dirty="0"/>
            </a:br>
            <a:r>
              <a:rPr lang="en-US" sz="1200" dirty="0"/>
              <a:t>A WhatsApp group, feedback forms, and monthly in-house bulletins will keep the army connected, heard, and motivated.</a:t>
            </a:r>
            <a:endParaRPr lang="en-KE" sz="1200" dirty="0"/>
          </a:p>
          <a:p>
            <a:pPr>
              <a:lnSpc>
                <a:spcPct val="150000"/>
              </a:lnSpc>
            </a:pPr>
            <a:r>
              <a:rPr lang="en-US" sz="1200" dirty="0"/>
              <a:t>By creating a movement of internal change agents, ALS strengthens ownership, accelerates execution, and spreads excitement throughout the organization.</a:t>
            </a:r>
            <a:endParaRPr lang="en-KE"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8</a:t>
            </a:fld>
            <a:endParaRPr spc="-25" dirty="0"/>
          </a:p>
        </p:txBody>
      </p:sp>
      <p:sp>
        <p:nvSpPr>
          <p:cNvPr id="2" name="object 2"/>
          <p:cNvSpPr txBox="1"/>
          <p:nvPr/>
        </p:nvSpPr>
        <p:spPr>
          <a:xfrm>
            <a:off x="902004" y="435356"/>
            <a:ext cx="5971540" cy="8375819"/>
          </a:xfrm>
          <a:prstGeom prst="rect">
            <a:avLst/>
          </a:prstGeom>
        </p:spPr>
        <p:txBody>
          <a:bodyPr vert="horz" wrap="square" lIns="0" tIns="12700" rIns="0" bIns="0" rtlCol="0">
            <a:spAutoFit/>
          </a:bodyPr>
          <a:lstStyle/>
          <a:p>
            <a:pPr marR="5080" algn="r">
              <a:lnSpc>
                <a:spcPct val="100000"/>
              </a:lnSpc>
              <a:spcBef>
                <a:spcPts val="100"/>
              </a:spcBef>
            </a:pPr>
            <a:endParaRPr sz="1100" dirty="0">
              <a:latin typeface="Arial MT"/>
              <a:cs typeface="Arial MT"/>
            </a:endParaRPr>
          </a:p>
          <a:p>
            <a:pPr>
              <a:lnSpc>
                <a:spcPct val="100000"/>
              </a:lnSpc>
              <a:spcBef>
                <a:spcPts val="235"/>
              </a:spcBef>
            </a:pPr>
            <a:endParaRPr sz="1100" dirty="0">
              <a:latin typeface="Arial MT"/>
              <a:cs typeface="Arial MT"/>
            </a:endParaRPr>
          </a:p>
          <a:p>
            <a:r>
              <a:rPr lang="en-US" sz="1800" b="1" dirty="0"/>
              <a:t> 5</a:t>
            </a:r>
            <a:r>
              <a:rPr lang="en-US" b="1" dirty="0"/>
              <a:t>.   </a:t>
            </a:r>
            <a:r>
              <a:rPr lang="en-US" sz="1800" b="1" dirty="0"/>
              <a:t>Enabling action by removing barriers</a:t>
            </a:r>
            <a:endParaRPr lang="en-KE" sz="1800" dirty="0"/>
          </a:p>
          <a:p>
            <a:pPr>
              <a:lnSpc>
                <a:spcPct val="150000"/>
              </a:lnSpc>
            </a:pPr>
            <a:r>
              <a:rPr lang="en-US" sz="1200" dirty="0"/>
              <a:t>To make the change successful, ALS is identifying and removing obstacles that hinder progress. These include outdated systems, rigid procedures, and psychological resistance to change.</a:t>
            </a:r>
            <a:endParaRPr lang="en-KE" sz="1200" dirty="0"/>
          </a:p>
          <a:p>
            <a:pPr>
              <a:lnSpc>
                <a:spcPct val="150000"/>
              </a:lnSpc>
            </a:pPr>
            <a:r>
              <a:rPr lang="en-US" sz="1200" b="1" dirty="0"/>
              <a:t>Identified Barriers &amp; Solutions:</a:t>
            </a:r>
            <a:endParaRPr lang="en-KE" sz="1200" dirty="0"/>
          </a:p>
          <a:p>
            <a:pPr lvl="0">
              <a:lnSpc>
                <a:spcPct val="150000"/>
              </a:lnSpc>
            </a:pPr>
            <a:r>
              <a:rPr lang="en-US" sz="1200" b="1" dirty="0"/>
              <a:t>Bureaucratic Delays:</a:t>
            </a:r>
            <a:endParaRPr lang="en-KE" sz="1200" dirty="0"/>
          </a:p>
          <a:p>
            <a:pPr lvl="1">
              <a:lnSpc>
                <a:spcPct val="150000"/>
              </a:lnSpc>
            </a:pPr>
            <a:r>
              <a:rPr lang="en-US" sz="1200" i="1" dirty="0"/>
              <a:t>Problem:</a:t>
            </a:r>
            <a:r>
              <a:rPr lang="en-US" sz="1200" dirty="0"/>
              <a:t> Lengthy approval processes slow down decisions.</a:t>
            </a:r>
            <a:endParaRPr lang="en-KE" sz="1200" dirty="0"/>
          </a:p>
          <a:p>
            <a:pPr lvl="1">
              <a:lnSpc>
                <a:spcPct val="150000"/>
              </a:lnSpc>
            </a:pPr>
            <a:r>
              <a:rPr lang="en-US" sz="1200" i="1" dirty="0"/>
              <a:t>Solution:</a:t>
            </a:r>
            <a:r>
              <a:rPr lang="en-US" sz="1200" dirty="0"/>
              <a:t> Introduce delegated authority for mid-level managers to speed up routine decisions.</a:t>
            </a:r>
            <a:endParaRPr lang="en-KE" sz="1200" dirty="0"/>
          </a:p>
          <a:p>
            <a:pPr lvl="0">
              <a:lnSpc>
                <a:spcPct val="150000"/>
              </a:lnSpc>
            </a:pPr>
            <a:r>
              <a:rPr lang="en-US" sz="1200" b="1" dirty="0"/>
              <a:t>Low Digital Adoption:</a:t>
            </a:r>
            <a:endParaRPr lang="en-KE" sz="1200" dirty="0"/>
          </a:p>
          <a:p>
            <a:pPr lvl="1">
              <a:lnSpc>
                <a:spcPct val="150000"/>
              </a:lnSpc>
            </a:pPr>
            <a:r>
              <a:rPr lang="en-US" sz="1200" i="1" dirty="0"/>
              <a:t>Problem:</a:t>
            </a:r>
            <a:r>
              <a:rPr lang="en-US" sz="1200" dirty="0"/>
              <a:t> Resistance to new technology from older staff.</a:t>
            </a:r>
            <a:endParaRPr lang="en-KE" sz="1200" dirty="0"/>
          </a:p>
          <a:p>
            <a:pPr lvl="1">
              <a:lnSpc>
                <a:spcPct val="150000"/>
              </a:lnSpc>
            </a:pPr>
            <a:r>
              <a:rPr lang="en-US" sz="1200" i="1" dirty="0"/>
              <a:t>Solution:</a:t>
            </a:r>
            <a:r>
              <a:rPr lang="en-US" sz="1200" dirty="0"/>
              <a:t> Introduce peer-led training and appoint tech mentors to assist staff during transition.</a:t>
            </a:r>
            <a:endParaRPr lang="en-KE" sz="1200" dirty="0"/>
          </a:p>
          <a:p>
            <a:pPr lvl="0">
              <a:lnSpc>
                <a:spcPct val="150000"/>
              </a:lnSpc>
            </a:pPr>
            <a:r>
              <a:rPr lang="en-US" sz="1200" b="1" dirty="0"/>
              <a:t>Departmental Silos:</a:t>
            </a:r>
            <a:endParaRPr lang="en-KE" sz="1200" dirty="0"/>
          </a:p>
          <a:p>
            <a:pPr lvl="1">
              <a:lnSpc>
                <a:spcPct val="150000"/>
              </a:lnSpc>
            </a:pPr>
            <a:r>
              <a:rPr lang="en-US" sz="1200" i="1" dirty="0"/>
              <a:t>Problem:</a:t>
            </a:r>
            <a:r>
              <a:rPr lang="en-US" sz="1200" dirty="0"/>
              <a:t> Poor collaboration between operations, finance, and marketing.</a:t>
            </a:r>
            <a:endParaRPr lang="en-KE" sz="1200" dirty="0"/>
          </a:p>
          <a:p>
            <a:pPr lvl="1">
              <a:lnSpc>
                <a:spcPct val="150000"/>
              </a:lnSpc>
            </a:pPr>
            <a:r>
              <a:rPr lang="en-US" sz="1200" i="1" dirty="0"/>
              <a:t>Solution:</a:t>
            </a:r>
            <a:r>
              <a:rPr lang="en-US" sz="1200" dirty="0"/>
              <a:t> Weekly cross-functional meetings and shared performance targets.</a:t>
            </a:r>
            <a:endParaRPr lang="en-KE" sz="1200" dirty="0"/>
          </a:p>
          <a:p>
            <a:pPr lvl="0">
              <a:lnSpc>
                <a:spcPct val="150000"/>
              </a:lnSpc>
            </a:pPr>
            <a:r>
              <a:rPr lang="en-US" sz="1200" b="1" dirty="0"/>
              <a:t>Limited Resources:</a:t>
            </a:r>
            <a:endParaRPr lang="en-KE" sz="1200" dirty="0"/>
          </a:p>
          <a:p>
            <a:pPr lvl="1">
              <a:lnSpc>
                <a:spcPct val="150000"/>
              </a:lnSpc>
            </a:pPr>
            <a:r>
              <a:rPr lang="en-US" sz="1200" i="1" dirty="0"/>
              <a:t>Problem:</a:t>
            </a:r>
            <a:r>
              <a:rPr lang="en-US" sz="1200" dirty="0"/>
              <a:t> Inadequate modern equipment and marketing tools.</a:t>
            </a:r>
            <a:endParaRPr lang="en-KE" sz="1200" dirty="0"/>
          </a:p>
          <a:p>
            <a:pPr lvl="1">
              <a:lnSpc>
                <a:spcPct val="150000"/>
              </a:lnSpc>
            </a:pPr>
            <a:r>
              <a:rPr lang="en-US" sz="1200" i="1" dirty="0"/>
              <a:t>Solution:</a:t>
            </a:r>
            <a:r>
              <a:rPr lang="en-US" sz="1200" dirty="0"/>
              <a:t> Allocate budget for priority upgrades in phases; seek vendor partnerships.</a:t>
            </a:r>
            <a:endParaRPr lang="en-KE" sz="1200" dirty="0"/>
          </a:p>
          <a:p>
            <a:pPr lvl="0">
              <a:lnSpc>
                <a:spcPct val="150000"/>
              </a:lnSpc>
            </a:pPr>
            <a:r>
              <a:rPr lang="en-US" sz="1200" b="1" dirty="0"/>
              <a:t>Fear of Job Loss or Role Change:</a:t>
            </a:r>
            <a:endParaRPr lang="en-KE" sz="1200" dirty="0"/>
          </a:p>
          <a:p>
            <a:pPr lvl="1">
              <a:lnSpc>
                <a:spcPct val="150000"/>
              </a:lnSpc>
            </a:pPr>
            <a:r>
              <a:rPr lang="en-US" sz="1200" i="1" dirty="0"/>
              <a:t>Problem:</a:t>
            </a:r>
            <a:r>
              <a:rPr lang="en-US" sz="1200" dirty="0"/>
              <a:t> Some employees fear being replaced or reassigned.</a:t>
            </a:r>
            <a:endParaRPr lang="en-KE" sz="1200" dirty="0"/>
          </a:p>
          <a:p>
            <a:pPr lvl="1">
              <a:lnSpc>
                <a:spcPct val="150000"/>
              </a:lnSpc>
            </a:pPr>
            <a:r>
              <a:rPr lang="en-US" sz="1200" i="1" dirty="0"/>
              <a:t>Solution:</a:t>
            </a:r>
            <a:r>
              <a:rPr lang="en-US" sz="1200" dirty="0"/>
              <a:t> Transparent communication, involvement in planning, and reassurance through training.</a:t>
            </a:r>
            <a:endParaRPr lang="en-KE" sz="1200" dirty="0"/>
          </a:p>
          <a:p>
            <a:pPr>
              <a:lnSpc>
                <a:spcPct val="150000"/>
              </a:lnSpc>
            </a:pPr>
            <a:r>
              <a:rPr lang="en-US" sz="1200" b="1" dirty="0"/>
              <a:t>Empowerment Strategy:</a:t>
            </a:r>
            <a:endParaRPr lang="en-KE" sz="1200" dirty="0"/>
          </a:p>
          <a:p>
            <a:pPr lvl="0">
              <a:lnSpc>
                <a:spcPct val="150000"/>
              </a:lnSpc>
            </a:pPr>
            <a:r>
              <a:rPr lang="en-US" sz="1200" dirty="0"/>
              <a:t>Assign project champions per department</a:t>
            </a:r>
            <a:endParaRPr lang="en-KE" sz="1200" dirty="0"/>
          </a:p>
          <a:p>
            <a:pPr lvl="0">
              <a:lnSpc>
                <a:spcPct val="150000"/>
              </a:lnSpc>
            </a:pPr>
            <a:r>
              <a:rPr lang="en-US" sz="1200" dirty="0"/>
              <a:t>Create a mentorship system for lagging staff</a:t>
            </a:r>
            <a:endParaRPr lang="en-KE" sz="1200" dirty="0"/>
          </a:p>
          <a:p>
            <a:pPr lvl="0">
              <a:lnSpc>
                <a:spcPct val="150000"/>
              </a:lnSpc>
            </a:pPr>
            <a:r>
              <a:rPr lang="en-US" sz="1200" dirty="0"/>
              <a:t>Regular check-ins to unblock delays and recognize action takers</a:t>
            </a:r>
            <a:endParaRPr lang="en-KE" sz="1200" dirty="0"/>
          </a:p>
          <a:p>
            <a:pPr>
              <a:lnSpc>
                <a:spcPct val="150000"/>
              </a:lnSpc>
            </a:pPr>
            <a:r>
              <a:rPr lang="en-US" sz="1200" dirty="0"/>
              <a:t>By clearing the path and building confidence, ALS creates the freedom and flexibility for staff to fully participate in the transformation.</a:t>
            </a:r>
            <a:endParaRPr lang="en-KE"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9</a:t>
            </a:fld>
            <a:endParaRPr spc="-25" dirty="0"/>
          </a:p>
        </p:txBody>
      </p:sp>
      <p:sp>
        <p:nvSpPr>
          <p:cNvPr id="2" name="object 2"/>
          <p:cNvSpPr txBox="1"/>
          <p:nvPr/>
        </p:nvSpPr>
        <p:spPr>
          <a:xfrm>
            <a:off x="902004" y="435356"/>
            <a:ext cx="5971540" cy="7072898"/>
          </a:xfrm>
          <a:prstGeom prst="rect">
            <a:avLst/>
          </a:prstGeom>
        </p:spPr>
        <p:txBody>
          <a:bodyPr vert="horz" wrap="square" lIns="0" tIns="12700" rIns="0" bIns="0" rtlCol="0">
            <a:spAutoFit/>
          </a:bodyPr>
          <a:lstStyle/>
          <a:p>
            <a:pPr marR="5080" algn="r">
              <a:lnSpc>
                <a:spcPct val="100000"/>
              </a:lnSpc>
              <a:spcBef>
                <a:spcPts val="100"/>
              </a:spcBef>
            </a:pPr>
            <a:r>
              <a:rPr sz="1100" spc="-25" dirty="0">
                <a:latin typeface="Calibri"/>
                <a:cs typeface="Calibri"/>
              </a:rPr>
              <a:t>10</a:t>
            </a:r>
            <a:endParaRPr sz="1100" dirty="0">
              <a:latin typeface="Arial MT"/>
              <a:cs typeface="Arial MT"/>
            </a:endParaRPr>
          </a:p>
          <a:p>
            <a:pPr marL="926465" lvl="1" indent="-685165">
              <a:lnSpc>
                <a:spcPct val="100000"/>
              </a:lnSpc>
              <a:spcBef>
                <a:spcPts val="5"/>
              </a:spcBef>
              <a:buAutoNum type="arabicPeriod" startAt="6"/>
              <a:tabLst>
                <a:tab pos="926465" algn="l"/>
              </a:tabLst>
            </a:pPr>
            <a:r>
              <a:rPr lang="en-US" sz="1800" b="1" dirty="0"/>
              <a:t>Generating short-term wins</a:t>
            </a:r>
          </a:p>
          <a:p>
            <a:pPr>
              <a:lnSpc>
                <a:spcPct val="150000"/>
              </a:lnSpc>
            </a:pPr>
            <a:r>
              <a:rPr lang="en-US" sz="1200" dirty="0"/>
              <a:t>To build momentum and sustain morale, ALS is prioritizing achievable, visible wins that align with the long-term vision. These quick successes will serve as proof that change is working and energize the team to keep going.</a:t>
            </a:r>
            <a:endParaRPr lang="en-KE" sz="1200" dirty="0"/>
          </a:p>
          <a:p>
            <a:pPr>
              <a:lnSpc>
                <a:spcPct val="150000"/>
              </a:lnSpc>
            </a:pPr>
            <a:r>
              <a:rPr lang="en-US" sz="1200" b="1" dirty="0"/>
              <a:t>Short-Term Win Areas:</a:t>
            </a:r>
            <a:endParaRPr lang="en-KE" sz="1200" dirty="0"/>
          </a:p>
          <a:p>
            <a:pPr lvl="0">
              <a:lnSpc>
                <a:spcPct val="150000"/>
              </a:lnSpc>
            </a:pPr>
            <a:r>
              <a:rPr lang="en-US" sz="1200" b="1" dirty="0"/>
              <a:t>Operational Efficiency:</a:t>
            </a:r>
            <a:endParaRPr lang="en-KE" sz="1200" dirty="0"/>
          </a:p>
          <a:p>
            <a:pPr lvl="1">
              <a:lnSpc>
                <a:spcPct val="150000"/>
              </a:lnSpc>
            </a:pPr>
            <a:r>
              <a:rPr lang="en-US" sz="1200" dirty="0"/>
              <a:t>Introduce a simplified linen sorting system to cut turnaround time by 25%.</a:t>
            </a:r>
            <a:endParaRPr lang="en-KE" sz="1200" dirty="0"/>
          </a:p>
          <a:p>
            <a:pPr lvl="1">
              <a:lnSpc>
                <a:spcPct val="150000"/>
              </a:lnSpc>
            </a:pPr>
            <a:r>
              <a:rPr lang="en-US" sz="1200" dirty="0"/>
              <a:t>Shift to automated invoicing using accounting software within 1 month.</a:t>
            </a:r>
            <a:endParaRPr lang="en-KE" sz="1200" dirty="0"/>
          </a:p>
          <a:p>
            <a:pPr lvl="0">
              <a:lnSpc>
                <a:spcPct val="150000"/>
              </a:lnSpc>
            </a:pPr>
            <a:r>
              <a:rPr lang="en-US" sz="1200" b="1" dirty="0"/>
              <a:t>Customer Experience:</a:t>
            </a:r>
            <a:endParaRPr lang="en-KE" sz="1200" dirty="0"/>
          </a:p>
          <a:p>
            <a:pPr lvl="1">
              <a:lnSpc>
                <a:spcPct val="150000"/>
              </a:lnSpc>
            </a:pPr>
            <a:r>
              <a:rPr lang="en-US" sz="1200" dirty="0"/>
              <a:t>Launch a “Customer of the Week” loyalty feature via SMS.</a:t>
            </a:r>
            <a:endParaRPr lang="en-KE" sz="1200" dirty="0"/>
          </a:p>
          <a:p>
            <a:pPr lvl="1">
              <a:lnSpc>
                <a:spcPct val="150000"/>
              </a:lnSpc>
            </a:pPr>
            <a:r>
              <a:rPr lang="en-US" sz="1200" dirty="0"/>
              <a:t>Improve pickup/delivery turnaround by 15% within 6 weeks.</a:t>
            </a:r>
            <a:endParaRPr lang="en-KE" sz="1200" dirty="0"/>
          </a:p>
          <a:p>
            <a:pPr lvl="0">
              <a:lnSpc>
                <a:spcPct val="150000"/>
              </a:lnSpc>
            </a:pPr>
            <a:r>
              <a:rPr lang="en-US" sz="1200" b="1" dirty="0"/>
              <a:t>Staff Morale:</a:t>
            </a:r>
            <a:endParaRPr lang="en-KE" sz="1200" dirty="0"/>
          </a:p>
          <a:p>
            <a:pPr lvl="1">
              <a:lnSpc>
                <a:spcPct val="150000"/>
              </a:lnSpc>
            </a:pPr>
            <a:r>
              <a:rPr lang="en-US" sz="1200" dirty="0"/>
              <a:t>Initiate a “Shining Star” recognition program with monthly rewards.</a:t>
            </a:r>
            <a:endParaRPr lang="en-KE" sz="1200" dirty="0"/>
          </a:p>
          <a:p>
            <a:pPr lvl="1">
              <a:lnSpc>
                <a:spcPct val="150000"/>
              </a:lnSpc>
            </a:pPr>
            <a:r>
              <a:rPr lang="en-US" sz="1200" dirty="0"/>
              <a:t>Host a staff appreciation tea and announce quick win milestones.</a:t>
            </a:r>
            <a:endParaRPr lang="en-KE" sz="1200" dirty="0"/>
          </a:p>
          <a:p>
            <a:pPr>
              <a:lnSpc>
                <a:spcPct val="150000"/>
              </a:lnSpc>
            </a:pPr>
            <a:r>
              <a:rPr lang="en-US" sz="1200" b="1" dirty="0"/>
              <a:t>Tools &amp; Communication Mediums:</a:t>
            </a:r>
            <a:endParaRPr lang="en-KE" sz="1200" dirty="0"/>
          </a:p>
          <a:p>
            <a:pPr lvl="0">
              <a:lnSpc>
                <a:spcPct val="150000"/>
              </a:lnSpc>
            </a:pPr>
            <a:r>
              <a:rPr lang="en-US" sz="1200" dirty="0"/>
              <a:t>Printed newsletters on notice boards</a:t>
            </a:r>
            <a:endParaRPr lang="en-KE" sz="1200" dirty="0"/>
          </a:p>
          <a:p>
            <a:pPr lvl="0">
              <a:lnSpc>
                <a:spcPct val="150000"/>
              </a:lnSpc>
            </a:pPr>
            <a:r>
              <a:rPr lang="en-US" sz="1200" dirty="0"/>
              <a:t>WhatsApp updates for quick internal wins</a:t>
            </a:r>
            <a:endParaRPr lang="en-KE" sz="1200" dirty="0"/>
          </a:p>
          <a:p>
            <a:pPr lvl="0">
              <a:lnSpc>
                <a:spcPct val="150000"/>
              </a:lnSpc>
            </a:pPr>
            <a:r>
              <a:rPr lang="en-US" sz="1200" dirty="0"/>
              <a:t>Email briefs to stakeholders</a:t>
            </a:r>
            <a:endParaRPr lang="en-KE" sz="1200" dirty="0"/>
          </a:p>
          <a:p>
            <a:pPr lvl="0">
              <a:lnSpc>
                <a:spcPct val="150000"/>
              </a:lnSpc>
            </a:pPr>
            <a:r>
              <a:rPr lang="en-US" sz="1200" dirty="0"/>
              <a:t>Internal performance dashboard with visual progress tracking</a:t>
            </a:r>
            <a:endParaRPr lang="en-KE" sz="1200" dirty="0"/>
          </a:p>
          <a:p>
            <a:pPr>
              <a:lnSpc>
                <a:spcPct val="150000"/>
              </a:lnSpc>
            </a:pPr>
            <a:r>
              <a:rPr lang="en-US" sz="1200" b="1" dirty="0"/>
              <a:t>Celebration Strategy:</a:t>
            </a:r>
            <a:endParaRPr lang="en-KE" sz="1200" dirty="0"/>
          </a:p>
          <a:p>
            <a:pPr lvl="0">
              <a:lnSpc>
                <a:spcPct val="150000"/>
              </a:lnSpc>
            </a:pPr>
            <a:r>
              <a:rPr lang="en-US" sz="1200" dirty="0"/>
              <a:t>Public acknowledgment in team meetings</a:t>
            </a:r>
            <a:endParaRPr lang="en-KE" sz="1200" dirty="0"/>
          </a:p>
          <a:p>
            <a:pPr lvl="0">
              <a:lnSpc>
                <a:spcPct val="150000"/>
              </a:lnSpc>
            </a:pPr>
            <a:r>
              <a:rPr lang="en-US" sz="1200" dirty="0"/>
              <a:t>Certificates and small incentives for contributors</a:t>
            </a:r>
            <a:endParaRPr lang="en-KE" sz="1200" dirty="0"/>
          </a:p>
          <a:p>
            <a:pPr lvl="0">
              <a:lnSpc>
                <a:spcPct val="150000"/>
              </a:lnSpc>
            </a:pPr>
            <a:r>
              <a:rPr lang="en-US" sz="1200" dirty="0"/>
              <a:t>Posting before-and-after win results in communal areas</a:t>
            </a:r>
            <a:endParaRPr lang="en-KE" sz="1200" dirty="0"/>
          </a:p>
          <a:p>
            <a:pPr>
              <a:lnSpc>
                <a:spcPct val="150000"/>
              </a:lnSpc>
            </a:pPr>
            <a:r>
              <a:rPr lang="en-US" sz="1200" dirty="0"/>
              <a:t>These wins, though modest, will create ripple effects and solidify belief in the broader change.</a:t>
            </a:r>
            <a:endParaRPr lang="en-KE"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10</a:t>
            </a:fld>
            <a:endParaRPr spc="-25" dirty="0"/>
          </a:p>
        </p:txBody>
      </p:sp>
      <p:sp>
        <p:nvSpPr>
          <p:cNvPr id="3" name="object 3"/>
          <p:cNvSpPr txBox="1"/>
          <p:nvPr/>
        </p:nvSpPr>
        <p:spPr>
          <a:xfrm>
            <a:off x="818387" y="609593"/>
            <a:ext cx="5989955" cy="7701917"/>
          </a:xfrm>
          <a:prstGeom prst="rect">
            <a:avLst/>
          </a:prstGeom>
        </p:spPr>
        <p:txBody>
          <a:bodyPr vert="horz" wrap="square" lIns="0" tIns="86995" rIns="0" bIns="0" rtlCol="0">
            <a:spAutoFit/>
          </a:bodyPr>
          <a:lstStyle/>
          <a:p>
            <a:pPr>
              <a:lnSpc>
                <a:spcPct val="100000"/>
              </a:lnSpc>
              <a:spcBef>
                <a:spcPts val="835"/>
              </a:spcBef>
            </a:pPr>
            <a:endParaRPr sz="1100" dirty="0">
              <a:latin typeface="Arial MT"/>
              <a:cs typeface="Arial MT"/>
            </a:endParaRPr>
          </a:p>
          <a:p>
            <a:pPr marL="964565" lvl="1" indent="-685165">
              <a:lnSpc>
                <a:spcPct val="100000"/>
              </a:lnSpc>
              <a:buAutoNum type="arabicPeriod" startAt="7"/>
              <a:tabLst>
                <a:tab pos="964565" algn="l"/>
              </a:tabLst>
            </a:pPr>
            <a:r>
              <a:rPr lang="en-US" sz="1800" b="1" dirty="0"/>
              <a:t>Consolidating gains and building more change</a:t>
            </a:r>
          </a:p>
          <a:p>
            <a:pPr>
              <a:lnSpc>
                <a:spcPct val="150000"/>
              </a:lnSpc>
            </a:pPr>
            <a:r>
              <a:rPr lang="en-US" sz="1200" dirty="0"/>
              <a:t>After achieving early wins, ALS is committed to turning momentum into meaningful, lasting transformation. This phase focuses on scaling what's working, eliminating remaining obstacles, and deepening the impact.</a:t>
            </a:r>
            <a:endParaRPr lang="en-KE" sz="1200" dirty="0"/>
          </a:p>
          <a:p>
            <a:pPr>
              <a:lnSpc>
                <a:spcPct val="150000"/>
              </a:lnSpc>
            </a:pPr>
            <a:r>
              <a:rPr lang="en-US" sz="1200" b="1" dirty="0"/>
              <a:t>Key Actions:</a:t>
            </a:r>
            <a:endParaRPr lang="en-KE" sz="1200" dirty="0"/>
          </a:p>
          <a:p>
            <a:pPr lvl="0">
              <a:lnSpc>
                <a:spcPct val="150000"/>
              </a:lnSpc>
            </a:pPr>
            <a:r>
              <a:rPr lang="en-US" sz="1200" b="1" dirty="0"/>
              <a:t>Analyze Successes:</a:t>
            </a:r>
            <a:br>
              <a:rPr lang="en-US" sz="1200" dirty="0"/>
            </a:br>
            <a:r>
              <a:rPr lang="en-US" sz="1200" dirty="0"/>
              <a:t>Evaluate what made the quick wins successful and identify processes that can be replicated across other branches or departments.</a:t>
            </a:r>
            <a:endParaRPr lang="en-KE" sz="1200" dirty="0"/>
          </a:p>
          <a:p>
            <a:pPr lvl="0">
              <a:lnSpc>
                <a:spcPct val="150000"/>
              </a:lnSpc>
            </a:pPr>
            <a:r>
              <a:rPr lang="en-US" sz="1200" b="1" dirty="0"/>
              <a:t>Strengthen What’s Working:</a:t>
            </a:r>
            <a:br>
              <a:rPr lang="en-US" sz="1200" dirty="0"/>
            </a:br>
            <a:r>
              <a:rPr lang="en-US" sz="1200" dirty="0"/>
              <a:t>Expand digital invoicing across all locations.</a:t>
            </a:r>
            <a:br>
              <a:rPr lang="en-US" sz="1200" dirty="0"/>
            </a:br>
            <a:r>
              <a:rPr lang="en-US" sz="1200" dirty="0"/>
              <a:t>Standardize customer feedback tools to ensure consistent service improvement.</a:t>
            </a:r>
            <a:endParaRPr lang="en-KE" sz="1200" dirty="0"/>
          </a:p>
          <a:p>
            <a:pPr lvl="0">
              <a:lnSpc>
                <a:spcPct val="150000"/>
              </a:lnSpc>
            </a:pPr>
            <a:r>
              <a:rPr lang="en-US" sz="1200" b="1" dirty="0"/>
              <a:t>Broaden Involvement:</a:t>
            </a:r>
            <a:br>
              <a:rPr lang="en-US" sz="1200" dirty="0"/>
            </a:br>
            <a:r>
              <a:rPr lang="en-US" sz="1200" dirty="0"/>
              <a:t>Encourage more employees to join change efforts through open forums and peer-nomination for leadership in mini-projects.</a:t>
            </a:r>
            <a:endParaRPr lang="en-KE" sz="1200" dirty="0"/>
          </a:p>
          <a:p>
            <a:pPr lvl="0">
              <a:lnSpc>
                <a:spcPct val="150000"/>
              </a:lnSpc>
            </a:pPr>
            <a:r>
              <a:rPr lang="en-US" sz="1200" b="1" dirty="0"/>
              <a:t>Tackle Unresolved Resistance:</a:t>
            </a:r>
            <a:br>
              <a:rPr lang="en-US" sz="1200" dirty="0"/>
            </a:br>
            <a:r>
              <a:rPr lang="en-US" sz="1200" dirty="0"/>
              <a:t>Offer one-on-one sessions and small group discussions to address remaining doubts or discomfort.</a:t>
            </a:r>
            <a:endParaRPr lang="en-KE" sz="1200" dirty="0"/>
          </a:p>
          <a:p>
            <a:pPr lvl="0">
              <a:lnSpc>
                <a:spcPct val="150000"/>
              </a:lnSpc>
            </a:pPr>
            <a:r>
              <a:rPr lang="en-US" sz="1200" b="1" dirty="0"/>
              <a:t>Expand Change Projects:</a:t>
            </a:r>
            <a:br>
              <a:rPr lang="en-US" sz="1200" dirty="0"/>
            </a:br>
            <a:r>
              <a:rPr lang="en-US" sz="1200" dirty="0"/>
              <a:t>Launch Phase 2 initiatives:</a:t>
            </a:r>
            <a:endParaRPr lang="en-KE" sz="1200" dirty="0"/>
          </a:p>
          <a:p>
            <a:pPr lvl="1">
              <a:lnSpc>
                <a:spcPct val="150000"/>
              </a:lnSpc>
            </a:pPr>
            <a:r>
              <a:rPr lang="en-US" sz="1200" dirty="0"/>
              <a:t>Design a green delivery system using reusable packaging</a:t>
            </a:r>
            <a:endParaRPr lang="en-KE" sz="1200" dirty="0"/>
          </a:p>
          <a:p>
            <a:pPr lvl="1">
              <a:lnSpc>
                <a:spcPct val="150000"/>
              </a:lnSpc>
            </a:pPr>
            <a:r>
              <a:rPr lang="en-US" sz="1200" dirty="0"/>
              <a:t>Roll out a company wide “Zero Waste Laundry” awareness campaign</a:t>
            </a:r>
            <a:endParaRPr lang="en-KE" sz="1200" dirty="0"/>
          </a:p>
          <a:p>
            <a:pPr>
              <a:lnSpc>
                <a:spcPct val="150000"/>
              </a:lnSpc>
            </a:pPr>
            <a:r>
              <a:rPr lang="en-US" sz="1200" b="1" dirty="0"/>
              <a:t>Leadership Continuity:</a:t>
            </a:r>
            <a:br>
              <a:rPr lang="en-US" sz="1200" dirty="0"/>
            </a:br>
            <a:r>
              <a:rPr lang="en-US" sz="1200" dirty="0"/>
              <a:t>Senior leaders will continue to reinforce wins during weekly briefings, linking them directly to ALS’s long-term vision.</a:t>
            </a:r>
            <a:endParaRPr lang="en-KE" sz="1200" dirty="0"/>
          </a:p>
          <a:p>
            <a:pPr>
              <a:lnSpc>
                <a:spcPct val="150000"/>
              </a:lnSpc>
            </a:pPr>
            <a:r>
              <a:rPr lang="en-US" sz="1200" dirty="0"/>
              <a:t>By building on progress and multiplying small victories, ALS ensures that change is not a one-time event but a movement with momentum.</a:t>
            </a:r>
            <a:endParaRPr lang="en-KE"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11</a:t>
            </a:fld>
            <a:endParaRPr spc="-25" dirty="0"/>
          </a:p>
        </p:txBody>
      </p:sp>
      <p:sp>
        <p:nvSpPr>
          <p:cNvPr id="2" name="object 2"/>
          <p:cNvSpPr txBox="1"/>
          <p:nvPr/>
        </p:nvSpPr>
        <p:spPr>
          <a:xfrm>
            <a:off x="6704838" y="435356"/>
            <a:ext cx="168910" cy="193675"/>
          </a:xfrm>
          <a:prstGeom prst="rect">
            <a:avLst/>
          </a:prstGeom>
        </p:spPr>
        <p:txBody>
          <a:bodyPr vert="horz" wrap="square" lIns="0" tIns="12700" rIns="0" bIns="0" rtlCol="0">
            <a:spAutoFit/>
          </a:bodyPr>
          <a:lstStyle/>
          <a:p>
            <a:pPr marL="12700">
              <a:lnSpc>
                <a:spcPct val="100000"/>
              </a:lnSpc>
              <a:spcBef>
                <a:spcPts val="100"/>
              </a:spcBef>
            </a:pPr>
            <a:r>
              <a:rPr sz="1100" spc="-25" dirty="0">
                <a:latin typeface="Calibri"/>
                <a:cs typeface="Calibri"/>
              </a:rPr>
              <a:t>13</a:t>
            </a:r>
            <a:endParaRPr sz="1100">
              <a:latin typeface="Calibri"/>
              <a:cs typeface="Calibri"/>
            </a:endParaRPr>
          </a:p>
        </p:txBody>
      </p:sp>
      <p:sp>
        <p:nvSpPr>
          <p:cNvPr id="3" name="object 3"/>
          <p:cNvSpPr txBox="1"/>
          <p:nvPr/>
        </p:nvSpPr>
        <p:spPr>
          <a:xfrm>
            <a:off x="902004" y="1538071"/>
            <a:ext cx="5883275" cy="7486473"/>
          </a:xfrm>
          <a:prstGeom prst="rect">
            <a:avLst/>
          </a:prstGeom>
        </p:spPr>
        <p:txBody>
          <a:bodyPr vert="horz" wrap="square" lIns="0" tIns="86995" rIns="0" bIns="0" rtlCol="0">
            <a:spAutoFit/>
          </a:bodyPr>
          <a:lstStyle/>
          <a:p>
            <a:pPr>
              <a:lnSpc>
                <a:spcPct val="100000"/>
              </a:lnSpc>
              <a:spcBef>
                <a:spcPts val="235"/>
              </a:spcBef>
            </a:pPr>
            <a:endParaRPr sz="1100" dirty="0">
              <a:latin typeface="Arial MT"/>
              <a:cs typeface="Arial MT"/>
            </a:endParaRPr>
          </a:p>
          <a:p>
            <a:r>
              <a:rPr sz="2200" b="1" spc="-25" dirty="0">
                <a:solidFill>
                  <a:schemeClr val="tx1"/>
                </a:solidFill>
                <a:latin typeface="Arial"/>
                <a:cs typeface="Arial"/>
              </a:rPr>
              <a:t>8.</a:t>
            </a:r>
            <a:r>
              <a:rPr lang="en-GB" sz="2200" b="1" spc="-25" dirty="0">
                <a:solidFill>
                  <a:srgbClr val="00AFEF"/>
                </a:solidFill>
                <a:latin typeface="Arial"/>
                <a:cs typeface="Arial"/>
              </a:rPr>
              <a:t>  </a:t>
            </a:r>
            <a:r>
              <a:rPr lang="en-US" sz="1800" b="1" dirty="0"/>
              <a:t>Anchoring new approaches in the culture</a:t>
            </a:r>
            <a:endParaRPr lang="en-KE" sz="1800" dirty="0"/>
          </a:p>
          <a:p>
            <a:pPr>
              <a:lnSpc>
                <a:spcPct val="150000"/>
              </a:lnSpc>
            </a:pPr>
            <a:r>
              <a:rPr lang="en-US" sz="1200" dirty="0"/>
              <a:t>To make change stick, ALS is embedding new </a:t>
            </a:r>
            <a:r>
              <a:rPr lang="en-US" sz="1200" dirty="0" err="1"/>
              <a:t>behaviours</a:t>
            </a:r>
            <a:r>
              <a:rPr lang="en-US" sz="1200" dirty="0"/>
              <a:t> and practices into its daily operations and organizational culture. This ensures that improvements become the “new normal” rather than temporary fixes.</a:t>
            </a:r>
            <a:endParaRPr lang="en-KE" sz="1200" dirty="0"/>
          </a:p>
          <a:p>
            <a:pPr>
              <a:lnSpc>
                <a:spcPct val="150000"/>
              </a:lnSpc>
            </a:pPr>
            <a:r>
              <a:rPr lang="en-US" sz="1200" b="1" dirty="0"/>
              <a:t>Key Integration Strategies:</a:t>
            </a:r>
            <a:endParaRPr lang="en-KE" sz="1200" dirty="0"/>
          </a:p>
          <a:p>
            <a:pPr lvl="0">
              <a:lnSpc>
                <a:spcPct val="150000"/>
              </a:lnSpc>
            </a:pPr>
            <a:r>
              <a:rPr lang="en-US" sz="1200" b="1" dirty="0"/>
              <a:t>Align with Core Values:</a:t>
            </a:r>
            <a:br>
              <a:rPr lang="en-US" sz="1200" dirty="0"/>
            </a:br>
            <a:r>
              <a:rPr lang="en-US" sz="1200" dirty="0"/>
              <a:t>Sustainability and innovation are now guiding decision-making, from procurement to service delivery.</a:t>
            </a:r>
            <a:endParaRPr lang="en-KE" sz="1200" dirty="0"/>
          </a:p>
          <a:p>
            <a:pPr lvl="0">
              <a:lnSpc>
                <a:spcPct val="150000"/>
              </a:lnSpc>
            </a:pPr>
            <a:r>
              <a:rPr lang="en-US" sz="1200" b="1" dirty="0"/>
              <a:t>Policy &amp; SOP Updates:</a:t>
            </a:r>
            <a:br>
              <a:rPr lang="en-US" sz="1200" dirty="0"/>
            </a:br>
            <a:r>
              <a:rPr lang="en-US" sz="1200" dirty="0"/>
              <a:t>Standard Operating Procedures are being revised to reflect new technologies, workflows, and eco-friendly practices.</a:t>
            </a:r>
            <a:endParaRPr lang="en-KE" sz="1200" dirty="0"/>
          </a:p>
          <a:p>
            <a:pPr lvl="0">
              <a:lnSpc>
                <a:spcPct val="150000"/>
              </a:lnSpc>
            </a:pPr>
            <a:r>
              <a:rPr lang="en-US" sz="1200" b="1" dirty="0"/>
              <a:t>Leadership as Role Models:</a:t>
            </a:r>
            <a:br>
              <a:rPr lang="en-US" sz="1200" dirty="0"/>
            </a:br>
            <a:r>
              <a:rPr lang="en-US" sz="1200" dirty="0"/>
              <a:t>Senior staff are required to demonstrate and reinforce the new practices—such as digital reporting and client feedback tracking—during operations.</a:t>
            </a:r>
            <a:endParaRPr lang="en-KE" sz="1200" dirty="0"/>
          </a:p>
          <a:p>
            <a:pPr lvl="0">
              <a:lnSpc>
                <a:spcPct val="150000"/>
              </a:lnSpc>
            </a:pPr>
            <a:r>
              <a:rPr lang="en-US" sz="1200" b="1" dirty="0"/>
              <a:t>Training as Culture-Building:</a:t>
            </a:r>
            <a:br>
              <a:rPr lang="en-US" sz="1200" dirty="0"/>
            </a:br>
            <a:r>
              <a:rPr lang="en-US" sz="1200" dirty="0"/>
              <a:t>Continuous learning is built into monthly staff development plans, ensuring everyone stays updated and aligned.</a:t>
            </a:r>
            <a:endParaRPr lang="en-KE" sz="1200" dirty="0"/>
          </a:p>
          <a:p>
            <a:pPr lvl="0">
              <a:lnSpc>
                <a:spcPct val="150000"/>
              </a:lnSpc>
            </a:pPr>
            <a:r>
              <a:rPr lang="en-US" sz="1200" b="1" dirty="0"/>
              <a:t>Reward Systems:</a:t>
            </a:r>
            <a:br>
              <a:rPr lang="en-US" sz="1200" dirty="0"/>
            </a:br>
            <a:r>
              <a:rPr lang="en-US" sz="1200" dirty="0"/>
              <a:t>Behaviors aligned with change—teamwork, initiative, sustainability—are tied to performance appraisals and recognition programs.</a:t>
            </a:r>
            <a:endParaRPr lang="en-KE" sz="1200" dirty="0"/>
          </a:p>
          <a:p>
            <a:pPr lvl="0">
              <a:lnSpc>
                <a:spcPct val="150000"/>
              </a:lnSpc>
            </a:pPr>
            <a:r>
              <a:rPr lang="en-US" sz="1200" b="1" dirty="0"/>
              <a:t>Celebration of Success Stories:</a:t>
            </a:r>
            <a:br>
              <a:rPr lang="en-US" sz="1200" dirty="0"/>
            </a:br>
            <a:r>
              <a:rPr lang="en-US" sz="1200" dirty="0"/>
              <a:t>Transformation stories (e.g. Peter in Operations reducing downtime by 40%) are shared company-wide to inspire others and embed belief in the process.</a:t>
            </a:r>
            <a:endParaRPr lang="en-KE" sz="1200" dirty="0"/>
          </a:p>
          <a:p>
            <a:pPr>
              <a:lnSpc>
                <a:spcPct val="150000"/>
              </a:lnSpc>
            </a:pPr>
            <a:r>
              <a:rPr lang="en-US" sz="1200" dirty="0"/>
              <a:t>ALS is cultivating a culture where adaptability, accountability, and service excellence are no longer goals—they’re expectations.</a:t>
            </a:r>
            <a:endParaRPr sz="1200" dirty="0">
              <a:latin typeface="Arial MT"/>
              <a:cs typeface="Arial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12</a:t>
            </a:fld>
            <a:endParaRPr spc="-25" dirty="0"/>
          </a:p>
        </p:txBody>
      </p:sp>
      <p:sp>
        <p:nvSpPr>
          <p:cNvPr id="3" name="object 3"/>
          <p:cNvSpPr txBox="1"/>
          <p:nvPr/>
        </p:nvSpPr>
        <p:spPr>
          <a:xfrm>
            <a:off x="979042" y="457200"/>
            <a:ext cx="5948045" cy="7134454"/>
          </a:xfrm>
          <a:prstGeom prst="rect">
            <a:avLst/>
          </a:prstGeom>
        </p:spPr>
        <p:txBody>
          <a:bodyPr vert="horz" wrap="square" lIns="0" tIns="12700" rIns="0" bIns="0" rtlCol="0">
            <a:spAutoFit/>
          </a:bodyPr>
          <a:lstStyle/>
          <a:p>
            <a:pPr>
              <a:lnSpc>
                <a:spcPct val="100000"/>
              </a:lnSpc>
              <a:spcBef>
                <a:spcPts val="65"/>
              </a:spcBef>
            </a:pPr>
            <a:endParaRPr sz="1100" dirty="0">
              <a:latin typeface="Arial MT"/>
              <a:cs typeface="Arial MT"/>
            </a:endParaRPr>
          </a:p>
          <a:p>
            <a:pPr marL="241300">
              <a:lnSpc>
                <a:spcPct val="100000"/>
              </a:lnSpc>
              <a:tabLst>
                <a:tab pos="926465" algn="l"/>
              </a:tabLst>
            </a:pPr>
            <a:r>
              <a:rPr sz="2200" b="1" spc="-25" dirty="0">
                <a:solidFill>
                  <a:schemeClr val="tx1"/>
                </a:solidFill>
                <a:latin typeface="Arial"/>
                <a:cs typeface="Arial"/>
              </a:rPr>
              <a:t>9.</a:t>
            </a:r>
            <a:r>
              <a:rPr sz="2200" b="1" dirty="0">
                <a:solidFill>
                  <a:schemeClr val="tx1"/>
                </a:solidFill>
                <a:latin typeface="Arial"/>
                <a:cs typeface="Arial"/>
              </a:rPr>
              <a:t>	</a:t>
            </a:r>
            <a:r>
              <a:rPr lang="en-US" sz="1800" b="1" dirty="0"/>
              <a:t>Sustaining long-term change</a:t>
            </a:r>
            <a:endParaRPr lang="en-US" sz="2200" dirty="0">
              <a:solidFill>
                <a:schemeClr val="tx1"/>
              </a:solidFill>
              <a:latin typeface="Arial"/>
              <a:cs typeface="Arial"/>
            </a:endParaRPr>
          </a:p>
          <a:p>
            <a:pPr>
              <a:lnSpc>
                <a:spcPct val="150000"/>
              </a:lnSpc>
            </a:pPr>
            <a:r>
              <a:rPr lang="en-US" sz="1200" dirty="0"/>
              <a:t>ALS is committed to ensuring that change continues beyond initial implementation by institutionalizing a culture of growth, learning, and adaptability.</a:t>
            </a:r>
            <a:endParaRPr lang="en-KE" sz="1200" dirty="0"/>
          </a:p>
          <a:p>
            <a:pPr>
              <a:lnSpc>
                <a:spcPct val="150000"/>
              </a:lnSpc>
            </a:pPr>
            <a:r>
              <a:rPr lang="en-US" sz="1200" b="1" dirty="0"/>
              <a:t>Key Strategies:</a:t>
            </a:r>
            <a:endParaRPr lang="en-KE" sz="1200" dirty="0"/>
          </a:p>
          <a:p>
            <a:pPr lvl="0">
              <a:lnSpc>
                <a:spcPct val="150000"/>
              </a:lnSpc>
            </a:pPr>
            <a:r>
              <a:rPr lang="en-US" sz="1200" b="1" dirty="0"/>
              <a:t>Continuous Monitoring &amp; Evaluation:</a:t>
            </a:r>
            <a:endParaRPr lang="en-KE" sz="1200" dirty="0"/>
          </a:p>
          <a:p>
            <a:pPr lvl="1">
              <a:lnSpc>
                <a:spcPct val="150000"/>
              </a:lnSpc>
            </a:pPr>
            <a:r>
              <a:rPr lang="en-US" sz="1200" dirty="0"/>
              <a:t>Use surveys, client feedback, and performance metrics to track change effectiveness.</a:t>
            </a:r>
            <a:endParaRPr lang="en-KE" sz="1200" dirty="0"/>
          </a:p>
          <a:p>
            <a:pPr lvl="1">
              <a:lnSpc>
                <a:spcPct val="150000"/>
              </a:lnSpc>
            </a:pPr>
            <a:r>
              <a:rPr lang="en-US" sz="1200" dirty="0"/>
              <a:t>Monthly reviews by the Finance and Operations teams to assess efficiency, cost savings, and staff engagement.</a:t>
            </a:r>
            <a:endParaRPr lang="en-KE" sz="1200" dirty="0"/>
          </a:p>
          <a:p>
            <a:pPr lvl="0">
              <a:lnSpc>
                <a:spcPct val="150000"/>
              </a:lnSpc>
            </a:pPr>
            <a:r>
              <a:rPr lang="en-US" sz="1200" b="1" dirty="0"/>
              <a:t>Feedback Loops:</a:t>
            </a:r>
            <a:endParaRPr lang="en-KE" sz="1200" dirty="0"/>
          </a:p>
          <a:p>
            <a:pPr lvl="1">
              <a:lnSpc>
                <a:spcPct val="150000"/>
              </a:lnSpc>
            </a:pPr>
            <a:r>
              <a:rPr lang="en-US" sz="1200" dirty="0"/>
              <a:t>Staff suggestion boxes and anonymous digital surveys allow continuous input and innovation from the ground up.</a:t>
            </a:r>
            <a:endParaRPr lang="en-KE" sz="1200" dirty="0"/>
          </a:p>
          <a:p>
            <a:pPr lvl="1">
              <a:lnSpc>
                <a:spcPct val="150000"/>
              </a:lnSpc>
            </a:pPr>
            <a:r>
              <a:rPr lang="en-US" sz="1200" dirty="0"/>
              <a:t>Volunteer change champions collect monthly insights for management consideration.</a:t>
            </a:r>
            <a:endParaRPr lang="en-KE" sz="1200" dirty="0"/>
          </a:p>
          <a:p>
            <a:pPr lvl="0">
              <a:lnSpc>
                <a:spcPct val="150000"/>
              </a:lnSpc>
            </a:pPr>
            <a:r>
              <a:rPr lang="en-US" sz="1200" b="1" dirty="0"/>
              <a:t>Adaptability &amp; Flexibility:</a:t>
            </a:r>
            <a:endParaRPr lang="en-KE" sz="1200" dirty="0"/>
          </a:p>
          <a:p>
            <a:pPr lvl="1">
              <a:lnSpc>
                <a:spcPct val="150000"/>
              </a:lnSpc>
            </a:pPr>
            <a:r>
              <a:rPr lang="en-US" sz="1200" dirty="0"/>
              <a:t>Plans remain open to revision based on market trends and customer needs.</a:t>
            </a:r>
            <a:endParaRPr lang="en-KE" sz="1200" dirty="0"/>
          </a:p>
          <a:p>
            <a:pPr lvl="1">
              <a:lnSpc>
                <a:spcPct val="150000"/>
              </a:lnSpc>
            </a:pPr>
            <a:r>
              <a:rPr lang="en-US" sz="1200" dirty="0"/>
              <a:t>A quarterly “Strategy Refresh” meeting ensures the company stays agile and responsive.</a:t>
            </a:r>
            <a:endParaRPr lang="en-KE" sz="1200" dirty="0"/>
          </a:p>
          <a:p>
            <a:pPr lvl="0">
              <a:lnSpc>
                <a:spcPct val="150000"/>
              </a:lnSpc>
            </a:pPr>
            <a:r>
              <a:rPr lang="en-US" sz="1200" b="1" dirty="0"/>
              <a:t>Culture of Learning:</a:t>
            </a:r>
            <a:endParaRPr lang="en-KE" sz="1200" dirty="0"/>
          </a:p>
          <a:p>
            <a:pPr lvl="1">
              <a:lnSpc>
                <a:spcPct val="150000"/>
              </a:lnSpc>
            </a:pPr>
            <a:r>
              <a:rPr lang="en-US" sz="1200" dirty="0"/>
              <a:t>Staff are encouraged to attend workshops and propose new improvement ideas.</a:t>
            </a:r>
            <a:endParaRPr lang="en-KE" sz="1200" dirty="0"/>
          </a:p>
          <a:p>
            <a:pPr lvl="1">
              <a:lnSpc>
                <a:spcPct val="150000"/>
              </a:lnSpc>
            </a:pPr>
            <a:r>
              <a:rPr lang="en-US" sz="1200" dirty="0"/>
              <a:t>Internal mentorship program helps embed change in newer team members.</a:t>
            </a:r>
            <a:endParaRPr lang="en-KE" sz="1200" dirty="0"/>
          </a:p>
          <a:p>
            <a:pPr lvl="0">
              <a:lnSpc>
                <a:spcPct val="150000"/>
              </a:lnSpc>
            </a:pPr>
            <a:r>
              <a:rPr lang="en-US" sz="1200" b="1" dirty="0"/>
              <a:t>Leadership Commitment:</a:t>
            </a:r>
            <a:endParaRPr lang="en-KE" sz="1200" dirty="0"/>
          </a:p>
          <a:p>
            <a:pPr lvl="1">
              <a:lnSpc>
                <a:spcPct val="150000"/>
              </a:lnSpc>
            </a:pPr>
            <a:r>
              <a:rPr lang="en-US" sz="1200" dirty="0"/>
              <a:t>Managers lead quarterly “Vision Talks” to realign teams with ALS’s long-term goals.</a:t>
            </a:r>
            <a:endParaRPr lang="en-KE" sz="1200" dirty="0"/>
          </a:p>
          <a:p>
            <a:pPr lvl="1">
              <a:lnSpc>
                <a:spcPct val="150000"/>
              </a:lnSpc>
            </a:pPr>
            <a:r>
              <a:rPr lang="en-US" sz="1200" dirty="0"/>
              <a:t>Ongoing support from the guiding coalition reinforces change as a living process, not a one-time event.</a:t>
            </a:r>
            <a:endParaRPr lang="en-KE" sz="1200" dirty="0"/>
          </a:p>
          <a:p>
            <a:pPr>
              <a:lnSpc>
                <a:spcPct val="150000"/>
              </a:lnSpc>
            </a:pPr>
            <a:r>
              <a:rPr lang="en-US" sz="1200" dirty="0"/>
              <a:t>By embedding flexibility and accountability, ALS ensures the change endures—evolving naturally with the organization’s growth.</a:t>
            </a:r>
            <a:endParaRPr lang="en-KE"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13</a:t>
            </a:fld>
            <a:endParaRPr spc="-25" dirty="0"/>
          </a:p>
        </p:txBody>
      </p:sp>
      <p:sp>
        <p:nvSpPr>
          <p:cNvPr id="2" name="object 2"/>
          <p:cNvSpPr txBox="1"/>
          <p:nvPr/>
        </p:nvSpPr>
        <p:spPr>
          <a:xfrm>
            <a:off x="6704838" y="435356"/>
            <a:ext cx="168910" cy="193675"/>
          </a:xfrm>
          <a:prstGeom prst="rect">
            <a:avLst/>
          </a:prstGeom>
        </p:spPr>
        <p:txBody>
          <a:bodyPr vert="horz" wrap="square" lIns="0" tIns="12700" rIns="0" bIns="0" rtlCol="0">
            <a:spAutoFit/>
          </a:bodyPr>
          <a:lstStyle/>
          <a:p>
            <a:pPr marL="12700">
              <a:lnSpc>
                <a:spcPct val="100000"/>
              </a:lnSpc>
              <a:spcBef>
                <a:spcPts val="100"/>
              </a:spcBef>
            </a:pPr>
            <a:r>
              <a:rPr sz="1100" spc="-25" dirty="0">
                <a:latin typeface="Calibri"/>
                <a:cs typeface="Calibri"/>
              </a:rPr>
              <a:t>16</a:t>
            </a:r>
            <a:endParaRPr sz="1100">
              <a:latin typeface="Calibri"/>
              <a:cs typeface="Calibri"/>
            </a:endParaRPr>
          </a:p>
        </p:txBody>
      </p:sp>
      <p:sp>
        <p:nvSpPr>
          <p:cNvPr id="4" name="object 4"/>
          <p:cNvSpPr txBox="1"/>
          <p:nvPr/>
        </p:nvSpPr>
        <p:spPr>
          <a:xfrm>
            <a:off x="774740" y="404876"/>
            <a:ext cx="5961380" cy="859210"/>
          </a:xfrm>
          <a:prstGeom prst="rect">
            <a:avLst/>
          </a:prstGeom>
        </p:spPr>
        <p:txBody>
          <a:bodyPr vert="horz" wrap="square" lIns="0" tIns="12700" rIns="0" bIns="0" rtlCol="0">
            <a:spAutoFit/>
          </a:bodyPr>
          <a:lstStyle/>
          <a:p>
            <a:pPr>
              <a:lnSpc>
                <a:spcPct val="100000"/>
              </a:lnSpc>
              <a:spcBef>
                <a:spcPts val="235"/>
              </a:spcBef>
            </a:pPr>
            <a:endParaRPr sz="1100" dirty="0">
              <a:latin typeface="Arial MT"/>
              <a:cs typeface="Arial MT"/>
            </a:endParaRPr>
          </a:p>
          <a:p>
            <a:pPr marL="241300">
              <a:lnSpc>
                <a:spcPct val="100000"/>
              </a:lnSpc>
              <a:tabLst>
                <a:tab pos="926465" algn="l"/>
              </a:tabLst>
            </a:pPr>
            <a:r>
              <a:rPr sz="2200" b="1" spc="-25" dirty="0">
                <a:solidFill>
                  <a:schemeClr val="tx1"/>
                </a:solidFill>
                <a:latin typeface="Arial"/>
                <a:cs typeface="Arial"/>
              </a:rPr>
              <a:t>10.</a:t>
            </a:r>
            <a:r>
              <a:rPr sz="2200" b="1" dirty="0">
                <a:solidFill>
                  <a:schemeClr val="tx1"/>
                </a:solidFill>
                <a:latin typeface="Arial"/>
                <a:cs typeface="Arial"/>
              </a:rPr>
              <a:t>	</a:t>
            </a:r>
            <a:r>
              <a:rPr sz="2200" b="1" spc="-10" dirty="0">
                <a:solidFill>
                  <a:schemeClr val="tx1"/>
                </a:solidFill>
                <a:latin typeface="Arial"/>
                <a:cs typeface="Arial"/>
              </a:rPr>
              <a:t>Budgeting</a:t>
            </a:r>
            <a:endParaRPr lang="en-GB" sz="2200" b="1" spc="-10" dirty="0">
              <a:solidFill>
                <a:schemeClr val="tx1"/>
              </a:solidFill>
              <a:latin typeface="Arial"/>
              <a:cs typeface="Arial"/>
            </a:endParaRPr>
          </a:p>
          <a:p>
            <a:pPr marL="241300">
              <a:lnSpc>
                <a:spcPct val="100000"/>
              </a:lnSpc>
              <a:tabLst>
                <a:tab pos="926465" algn="l"/>
              </a:tabLst>
            </a:pPr>
            <a:endParaRPr sz="2200" dirty="0">
              <a:solidFill>
                <a:schemeClr val="tx1"/>
              </a:solidFill>
              <a:latin typeface="Arial"/>
              <a:cs typeface="Arial"/>
            </a:endParaRPr>
          </a:p>
        </p:txBody>
      </p:sp>
      <p:graphicFrame>
        <p:nvGraphicFramePr>
          <p:cNvPr id="7" name="Table 6">
            <a:extLst>
              <a:ext uri="{FF2B5EF4-FFF2-40B4-BE49-F238E27FC236}">
                <a16:creationId xmlns:a16="http://schemas.microsoft.com/office/drawing/2014/main" id="{7B30E311-B970-061A-C77C-6C8EEC3B65CA}"/>
              </a:ext>
            </a:extLst>
          </p:cNvPr>
          <p:cNvGraphicFramePr>
            <a:graphicFrameLocks noGrp="1"/>
          </p:cNvGraphicFramePr>
          <p:nvPr>
            <p:extLst>
              <p:ext uri="{D42A27DB-BD31-4B8C-83A1-F6EECF244321}">
                <p14:modId xmlns:p14="http://schemas.microsoft.com/office/powerpoint/2010/main" val="4091632436"/>
              </p:ext>
            </p:extLst>
          </p:nvPr>
        </p:nvGraphicFramePr>
        <p:xfrm>
          <a:off x="838201" y="1757100"/>
          <a:ext cx="6035546" cy="7386904"/>
        </p:xfrm>
        <a:graphic>
          <a:graphicData uri="http://schemas.openxmlformats.org/drawingml/2006/table">
            <a:tbl>
              <a:tblPr firstRow="1" firstCol="1" bandRow="1">
                <a:tableStyleId>{5C22544A-7EE6-4342-B048-85BDC9FD1C3A}</a:tableStyleId>
              </a:tblPr>
              <a:tblGrid>
                <a:gridCol w="1637803">
                  <a:extLst>
                    <a:ext uri="{9D8B030D-6E8A-4147-A177-3AD203B41FA5}">
                      <a16:colId xmlns:a16="http://schemas.microsoft.com/office/drawing/2014/main" val="785152273"/>
                    </a:ext>
                  </a:extLst>
                </a:gridCol>
                <a:gridCol w="2759940">
                  <a:extLst>
                    <a:ext uri="{9D8B030D-6E8A-4147-A177-3AD203B41FA5}">
                      <a16:colId xmlns:a16="http://schemas.microsoft.com/office/drawing/2014/main" val="2361420154"/>
                    </a:ext>
                  </a:extLst>
                </a:gridCol>
                <a:gridCol w="1637803">
                  <a:extLst>
                    <a:ext uri="{9D8B030D-6E8A-4147-A177-3AD203B41FA5}">
                      <a16:colId xmlns:a16="http://schemas.microsoft.com/office/drawing/2014/main" val="1055570422"/>
                    </a:ext>
                  </a:extLst>
                </a:gridCol>
              </a:tblGrid>
              <a:tr h="216723">
                <a:tc>
                  <a:txBody>
                    <a:bodyPr/>
                    <a:lstStyle/>
                    <a:p>
                      <a:pPr marL="0" marR="0" algn="l">
                        <a:lnSpc>
                          <a:spcPct val="107000"/>
                        </a:lnSpc>
                        <a:spcAft>
                          <a:spcPts val="800"/>
                        </a:spcAft>
                        <a:buNone/>
                      </a:pPr>
                      <a:r>
                        <a:rPr lang="en-US" sz="1200" kern="100">
                          <a:effectLst/>
                        </a:rPr>
                        <a:t>Category</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Description</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Annual Cost (KES)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3910767608"/>
                  </a:ext>
                </a:extLst>
              </a:tr>
              <a:tr h="409903">
                <a:tc>
                  <a:txBody>
                    <a:bodyPr/>
                    <a:lstStyle/>
                    <a:p>
                      <a:pPr marL="0" marR="0" algn="l">
                        <a:lnSpc>
                          <a:spcPct val="107000"/>
                        </a:lnSpc>
                        <a:spcAft>
                          <a:spcPts val="800"/>
                        </a:spcAft>
                        <a:buNone/>
                      </a:pPr>
                      <a:r>
                        <a:rPr lang="en-US" sz="1200" kern="100">
                          <a:effectLst/>
                        </a:rPr>
                        <a:t>1. Digital Transformation</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algn="l">
                        <a:lnSpc>
                          <a:spcPct val="107000"/>
                        </a:lnSpc>
                        <a:buNone/>
                      </a:pPr>
                      <a:endParaRPr lang="en-KE" sz="1100" kern="100">
                        <a:effectLst/>
                        <a:latin typeface="Aptos" panose="020B0004020202020204" pitchFamily="34" charset="0"/>
                      </a:endParaRPr>
                    </a:p>
                  </a:txBody>
                  <a:tcPr marL="9274" marR="9274" marT="9274" marB="9274" anchor="ctr"/>
                </a:tc>
                <a:tc>
                  <a:txBody>
                    <a:bodyPr/>
                    <a:lstStyle/>
                    <a:p>
                      <a:pPr algn="l">
                        <a:lnSpc>
                          <a:spcPct val="107000"/>
                        </a:lnSpc>
                        <a:buNone/>
                      </a:pPr>
                      <a:endParaRPr lang="en-KE" sz="1100" kern="100">
                        <a:effectLst/>
                        <a:latin typeface="Aptos" panose="020B0004020202020204" pitchFamily="34" charset="0"/>
                      </a:endParaRPr>
                    </a:p>
                  </a:txBody>
                  <a:tcPr marL="9274" marR="9274" marT="9274" marB="9274" anchor="ctr"/>
                </a:tc>
                <a:extLst>
                  <a:ext uri="{0D108BD9-81ED-4DB2-BD59-A6C34878D82A}">
                    <a16:rowId xmlns:a16="http://schemas.microsoft.com/office/drawing/2014/main" val="3427748294"/>
                  </a:ext>
                </a:extLst>
              </a:tr>
              <a:tr h="421544">
                <a:tc>
                  <a:txBody>
                    <a:bodyPr/>
                    <a:lstStyle/>
                    <a:p>
                      <a:pPr marL="0" marR="0" algn="l">
                        <a:lnSpc>
                          <a:spcPct val="107000"/>
                        </a:lnSpc>
                        <a:spcAft>
                          <a:spcPts val="800"/>
                        </a:spcAft>
                        <a:buNone/>
                      </a:pPr>
                      <a:r>
                        <a:rPr lang="en-US" sz="1200" kern="100">
                          <a:effectLst/>
                        </a:rPr>
                        <a:t>POS &amp; Inventory Software</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Custom system to track orders, stock &amp; performance</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900,000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399351177"/>
                  </a:ext>
                </a:extLst>
              </a:tr>
              <a:tr h="421544">
                <a:tc>
                  <a:txBody>
                    <a:bodyPr/>
                    <a:lstStyle/>
                    <a:p>
                      <a:pPr marL="0" marR="0" algn="l">
                        <a:lnSpc>
                          <a:spcPct val="107000"/>
                        </a:lnSpc>
                        <a:spcAft>
                          <a:spcPts val="800"/>
                        </a:spcAft>
                        <a:buNone/>
                      </a:pPr>
                      <a:r>
                        <a:rPr lang="en-US" sz="1200" kern="100">
                          <a:effectLst/>
                        </a:rPr>
                        <a:t>Staff Tablets/Mobile Devices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10 devices for tracking, POS, and customer data</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600,000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1057487108"/>
                  </a:ext>
                </a:extLst>
              </a:tr>
              <a:tr h="421544">
                <a:tc>
                  <a:txBody>
                    <a:bodyPr/>
                    <a:lstStyle/>
                    <a:p>
                      <a:pPr marL="0" marR="0" algn="l">
                        <a:lnSpc>
                          <a:spcPct val="107000"/>
                        </a:lnSpc>
                        <a:spcAft>
                          <a:spcPts val="800"/>
                        </a:spcAft>
                        <a:buNone/>
                      </a:pPr>
                      <a:r>
                        <a:rPr lang="en-US" sz="1200" kern="100">
                          <a:effectLst/>
                        </a:rPr>
                        <a:t>IT Support &amp; Maintenance</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Monthly system support &amp; updates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300,000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2946400900"/>
                  </a:ext>
                </a:extLst>
              </a:tr>
              <a:tr h="216723">
                <a:tc>
                  <a:txBody>
                    <a:bodyPr/>
                    <a:lstStyle/>
                    <a:p>
                      <a:pPr marL="0" marR="0" algn="l">
                        <a:lnSpc>
                          <a:spcPct val="107000"/>
                        </a:lnSpc>
                        <a:spcAft>
                          <a:spcPts val="800"/>
                        </a:spcAft>
                        <a:buNone/>
                      </a:pPr>
                      <a:r>
                        <a:rPr lang="en-US" sz="1200" kern="100">
                          <a:effectLst/>
                        </a:rPr>
                        <a:t>Cybersecurity Tools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Antivirus, firewalls &amp; data backups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300,000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106001469"/>
                  </a:ext>
                </a:extLst>
              </a:tr>
              <a:tr h="216723">
                <a:tc>
                  <a:txBody>
                    <a:bodyPr/>
                    <a:lstStyle/>
                    <a:p>
                      <a:pPr marL="0" marR="0" algn="l">
                        <a:lnSpc>
                          <a:spcPct val="107000"/>
                        </a:lnSpc>
                        <a:spcAft>
                          <a:spcPts val="800"/>
                        </a:spcAft>
                        <a:buNone/>
                      </a:pPr>
                      <a:r>
                        <a:rPr lang="en-US" sz="1200" kern="100">
                          <a:effectLst/>
                        </a:rPr>
                        <a:t>Subtotal – Digital</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algn="l">
                        <a:lnSpc>
                          <a:spcPct val="107000"/>
                        </a:lnSpc>
                        <a:buNone/>
                      </a:pPr>
                      <a:endParaRPr lang="en-KE" sz="1100" kern="100">
                        <a:effectLst/>
                        <a:latin typeface="Aptos" panose="020B00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2,100,000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1769645168"/>
                  </a:ext>
                </a:extLst>
              </a:tr>
              <a:tr h="200706">
                <a:tc>
                  <a:txBody>
                    <a:bodyPr/>
                    <a:lstStyle/>
                    <a:p>
                      <a:pPr algn="l">
                        <a:lnSpc>
                          <a:spcPct val="107000"/>
                        </a:lnSpc>
                        <a:buNone/>
                      </a:pPr>
                      <a:endParaRPr lang="en-KE" sz="1100" kern="100">
                        <a:effectLst/>
                        <a:latin typeface="Aptos" panose="020B0004020202020204" pitchFamily="34" charset="0"/>
                      </a:endParaRPr>
                    </a:p>
                  </a:txBody>
                  <a:tcPr marL="9274" marR="9274" marT="9274" marB="9274" anchor="ctr"/>
                </a:tc>
                <a:tc>
                  <a:txBody>
                    <a:bodyPr/>
                    <a:lstStyle/>
                    <a:p>
                      <a:pPr algn="l">
                        <a:lnSpc>
                          <a:spcPct val="107000"/>
                        </a:lnSpc>
                        <a:buNone/>
                      </a:pPr>
                      <a:endParaRPr lang="en-KE" sz="1100" kern="100">
                        <a:effectLst/>
                        <a:latin typeface="Aptos" panose="020B0004020202020204" pitchFamily="34" charset="0"/>
                      </a:endParaRPr>
                    </a:p>
                  </a:txBody>
                  <a:tcPr marL="9274" marR="9274" marT="9274" marB="9274" anchor="ctr"/>
                </a:tc>
                <a:tc>
                  <a:txBody>
                    <a:bodyPr/>
                    <a:lstStyle/>
                    <a:p>
                      <a:pPr algn="l">
                        <a:lnSpc>
                          <a:spcPct val="107000"/>
                        </a:lnSpc>
                        <a:buNone/>
                      </a:pPr>
                      <a:endParaRPr lang="en-KE" sz="1100" kern="100">
                        <a:effectLst/>
                        <a:latin typeface="Aptos" panose="020B0004020202020204" pitchFamily="34" charset="0"/>
                      </a:endParaRPr>
                    </a:p>
                  </a:txBody>
                  <a:tcPr marL="9274" marR="9274" marT="9274" marB="9274" anchor="ctr"/>
                </a:tc>
                <a:extLst>
                  <a:ext uri="{0D108BD9-81ED-4DB2-BD59-A6C34878D82A}">
                    <a16:rowId xmlns:a16="http://schemas.microsoft.com/office/drawing/2014/main" val="2602529092"/>
                  </a:ext>
                </a:extLst>
              </a:tr>
              <a:tr h="421544">
                <a:tc>
                  <a:txBody>
                    <a:bodyPr/>
                    <a:lstStyle/>
                    <a:p>
                      <a:pPr marL="0" marR="0" algn="l">
                        <a:lnSpc>
                          <a:spcPct val="107000"/>
                        </a:lnSpc>
                        <a:spcAft>
                          <a:spcPts val="800"/>
                        </a:spcAft>
                        <a:buNone/>
                      </a:pPr>
                      <a:r>
                        <a:rPr lang="en-US" sz="1200" kern="100">
                          <a:effectLst/>
                        </a:rPr>
                        <a:t>2. Human Resource Development</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algn="l">
                        <a:lnSpc>
                          <a:spcPct val="107000"/>
                        </a:lnSpc>
                        <a:buNone/>
                      </a:pPr>
                      <a:endParaRPr lang="en-KE" sz="1100" kern="100">
                        <a:effectLst/>
                        <a:latin typeface="Aptos" panose="020B0004020202020204" pitchFamily="34" charset="0"/>
                      </a:endParaRPr>
                    </a:p>
                  </a:txBody>
                  <a:tcPr marL="9274" marR="9274" marT="9274" marB="9274" anchor="ctr"/>
                </a:tc>
                <a:tc>
                  <a:txBody>
                    <a:bodyPr/>
                    <a:lstStyle/>
                    <a:p>
                      <a:pPr algn="l">
                        <a:lnSpc>
                          <a:spcPct val="107000"/>
                        </a:lnSpc>
                        <a:buNone/>
                      </a:pPr>
                      <a:endParaRPr lang="en-KE" sz="1100" kern="100">
                        <a:effectLst/>
                        <a:latin typeface="Aptos" panose="020B0004020202020204" pitchFamily="34" charset="0"/>
                      </a:endParaRPr>
                    </a:p>
                  </a:txBody>
                  <a:tcPr marL="9274" marR="9274" marT="9274" marB="9274" anchor="ctr"/>
                </a:tc>
                <a:extLst>
                  <a:ext uri="{0D108BD9-81ED-4DB2-BD59-A6C34878D82A}">
                    <a16:rowId xmlns:a16="http://schemas.microsoft.com/office/drawing/2014/main" val="2772169567"/>
                  </a:ext>
                </a:extLst>
              </a:tr>
              <a:tr h="216723">
                <a:tc>
                  <a:txBody>
                    <a:bodyPr/>
                    <a:lstStyle/>
                    <a:p>
                      <a:pPr marL="0" marR="0" algn="l">
                        <a:lnSpc>
                          <a:spcPct val="107000"/>
                        </a:lnSpc>
                        <a:spcAft>
                          <a:spcPts val="800"/>
                        </a:spcAft>
                        <a:buNone/>
                      </a:pPr>
                      <a:r>
                        <a:rPr lang="en-US" sz="1200" kern="100">
                          <a:effectLst/>
                        </a:rPr>
                        <a:t>Security personnel</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 </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240,000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278387254"/>
                  </a:ext>
                </a:extLst>
              </a:tr>
              <a:tr h="216723">
                <a:tc>
                  <a:txBody>
                    <a:bodyPr/>
                    <a:lstStyle/>
                    <a:p>
                      <a:pPr marL="0" marR="0" algn="l">
                        <a:lnSpc>
                          <a:spcPct val="107000"/>
                        </a:lnSpc>
                        <a:spcAft>
                          <a:spcPts val="800"/>
                        </a:spcAft>
                        <a:buNone/>
                      </a:pPr>
                      <a:r>
                        <a:rPr lang="en-US" sz="1200" kern="100">
                          <a:effectLst/>
                        </a:rPr>
                        <a:t>Company’s Staff</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employees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1,000,000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2952148533"/>
                  </a:ext>
                </a:extLst>
              </a:tr>
              <a:tr h="421544">
                <a:tc>
                  <a:txBody>
                    <a:bodyPr/>
                    <a:lstStyle/>
                    <a:p>
                      <a:pPr marL="0" marR="0" algn="l">
                        <a:lnSpc>
                          <a:spcPct val="107000"/>
                        </a:lnSpc>
                        <a:spcAft>
                          <a:spcPts val="800"/>
                        </a:spcAft>
                        <a:buNone/>
                      </a:pPr>
                      <a:r>
                        <a:rPr lang="en-US" sz="1200" kern="100">
                          <a:effectLst/>
                        </a:rPr>
                        <a:t>Staff Training &amp; Development</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Quarterly workshops (customer service, operations)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500,000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1798786170"/>
                  </a:ext>
                </a:extLst>
              </a:tr>
              <a:tr h="421544">
                <a:tc>
                  <a:txBody>
                    <a:bodyPr/>
                    <a:lstStyle/>
                    <a:p>
                      <a:pPr marL="0" marR="0" algn="l">
                        <a:lnSpc>
                          <a:spcPct val="107000"/>
                        </a:lnSpc>
                        <a:spcAft>
                          <a:spcPts val="800"/>
                        </a:spcAft>
                        <a:buNone/>
                      </a:pPr>
                      <a:r>
                        <a:rPr lang="en-US" sz="1200" kern="100">
                          <a:effectLst/>
                        </a:rPr>
                        <a:t>Performance Incentive Program</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Monthly rewards for KPIs met</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200,000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1209782599"/>
                  </a:ext>
                </a:extLst>
              </a:tr>
              <a:tr h="421544">
                <a:tc>
                  <a:txBody>
                    <a:bodyPr/>
                    <a:lstStyle/>
                    <a:p>
                      <a:pPr marL="0" marR="0" algn="l">
                        <a:lnSpc>
                          <a:spcPct val="107000"/>
                        </a:lnSpc>
                        <a:spcAft>
                          <a:spcPts val="800"/>
                        </a:spcAft>
                        <a:buNone/>
                      </a:pPr>
                      <a:r>
                        <a:rPr lang="en-US" sz="1200" kern="100">
                          <a:effectLst/>
                        </a:rPr>
                        <a:t>Hiring Two Skilled Managers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Operations and HR management</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960,000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3892004925"/>
                  </a:ext>
                </a:extLst>
              </a:tr>
              <a:tr h="421544">
                <a:tc>
                  <a:txBody>
                    <a:bodyPr/>
                    <a:lstStyle/>
                    <a:p>
                      <a:pPr marL="0" marR="0" algn="l">
                        <a:lnSpc>
                          <a:spcPct val="107000"/>
                        </a:lnSpc>
                        <a:spcAft>
                          <a:spcPts val="800"/>
                        </a:spcAft>
                        <a:buNone/>
                      </a:pPr>
                      <a:r>
                        <a:rPr lang="en-US" sz="1200" kern="100">
                          <a:effectLst/>
                        </a:rPr>
                        <a:t>Uniforms and Safety Gear</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New branding, gloves, PPE, ID tags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400,000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2455090960"/>
                  </a:ext>
                </a:extLst>
              </a:tr>
              <a:tr h="216723">
                <a:tc>
                  <a:txBody>
                    <a:bodyPr/>
                    <a:lstStyle/>
                    <a:p>
                      <a:pPr marL="0" marR="0" algn="l">
                        <a:lnSpc>
                          <a:spcPct val="107000"/>
                        </a:lnSpc>
                        <a:spcAft>
                          <a:spcPts val="800"/>
                        </a:spcAft>
                        <a:buNone/>
                      </a:pPr>
                      <a:r>
                        <a:rPr lang="en-US" sz="1200" kern="100">
                          <a:effectLst/>
                        </a:rPr>
                        <a:t>Subtotal – HR</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algn="l">
                        <a:lnSpc>
                          <a:spcPct val="107000"/>
                        </a:lnSpc>
                        <a:buNone/>
                      </a:pPr>
                      <a:endParaRPr lang="en-KE" sz="1100" kern="100">
                        <a:effectLst/>
                        <a:latin typeface="Aptos" panose="020B00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3,300,000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2194889479"/>
                  </a:ext>
                </a:extLst>
              </a:tr>
              <a:tr h="200706">
                <a:tc>
                  <a:txBody>
                    <a:bodyPr/>
                    <a:lstStyle/>
                    <a:p>
                      <a:pPr algn="l">
                        <a:lnSpc>
                          <a:spcPct val="107000"/>
                        </a:lnSpc>
                        <a:buNone/>
                      </a:pPr>
                      <a:endParaRPr lang="en-KE" sz="1100" kern="100">
                        <a:effectLst/>
                        <a:latin typeface="Aptos" panose="020B0004020202020204" pitchFamily="34" charset="0"/>
                      </a:endParaRPr>
                    </a:p>
                  </a:txBody>
                  <a:tcPr marL="9274" marR="9274" marT="9274" marB="9274" anchor="ctr"/>
                </a:tc>
                <a:tc>
                  <a:txBody>
                    <a:bodyPr/>
                    <a:lstStyle/>
                    <a:p>
                      <a:pPr algn="l">
                        <a:lnSpc>
                          <a:spcPct val="107000"/>
                        </a:lnSpc>
                        <a:buNone/>
                      </a:pPr>
                      <a:endParaRPr lang="en-KE" sz="1100" kern="100">
                        <a:effectLst/>
                        <a:latin typeface="Aptos" panose="020B0004020202020204" pitchFamily="34" charset="0"/>
                      </a:endParaRPr>
                    </a:p>
                  </a:txBody>
                  <a:tcPr marL="9274" marR="9274" marT="9274" marB="9274" anchor="ctr"/>
                </a:tc>
                <a:tc>
                  <a:txBody>
                    <a:bodyPr/>
                    <a:lstStyle/>
                    <a:p>
                      <a:pPr algn="l">
                        <a:lnSpc>
                          <a:spcPct val="107000"/>
                        </a:lnSpc>
                        <a:buNone/>
                      </a:pPr>
                      <a:endParaRPr lang="en-KE" sz="1100" kern="100">
                        <a:effectLst/>
                        <a:latin typeface="Aptos" panose="020B0004020202020204" pitchFamily="34" charset="0"/>
                      </a:endParaRPr>
                    </a:p>
                  </a:txBody>
                  <a:tcPr marL="9274" marR="9274" marT="9274" marB="9274" anchor="ctr"/>
                </a:tc>
                <a:extLst>
                  <a:ext uri="{0D108BD9-81ED-4DB2-BD59-A6C34878D82A}">
                    <a16:rowId xmlns:a16="http://schemas.microsoft.com/office/drawing/2014/main" val="1181699459"/>
                  </a:ext>
                </a:extLst>
              </a:tr>
              <a:tr h="421544">
                <a:tc>
                  <a:txBody>
                    <a:bodyPr/>
                    <a:lstStyle/>
                    <a:p>
                      <a:pPr marL="0" marR="0" algn="l">
                        <a:lnSpc>
                          <a:spcPct val="107000"/>
                        </a:lnSpc>
                        <a:spcAft>
                          <a:spcPts val="800"/>
                        </a:spcAft>
                        <a:buNone/>
                      </a:pPr>
                      <a:r>
                        <a:rPr lang="en-US" sz="1200" kern="100">
                          <a:effectLst/>
                        </a:rPr>
                        <a:t>3. Marketing and Communication</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algn="l">
                        <a:lnSpc>
                          <a:spcPct val="107000"/>
                        </a:lnSpc>
                        <a:buNone/>
                      </a:pPr>
                      <a:endParaRPr lang="en-KE" sz="1100" kern="100">
                        <a:effectLst/>
                        <a:latin typeface="Aptos" panose="020B0004020202020204" pitchFamily="34" charset="0"/>
                      </a:endParaRPr>
                    </a:p>
                  </a:txBody>
                  <a:tcPr marL="9274" marR="9274" marT="9274" marB="9274" anchor="ctr"/>
                </a:tc>
                <a:tc>
                  <a:txBody>
                    <a:bodyPr/>
                    <a:lstStyle/>
                    <a:p>
                      <a:pPr algn="l">
                        <a:lnSpc>
                          <a:spcPct val="107000"/>
                        </a:lnSpc>
                        <a:buNone/>
                      </a:pPr>
                      <a:endParaRPr lang="en-KE" sz="1100" kern="100">
                        <a:effectLst/>
                        <a:latin typeface="Aptos" panose="020B0004020202020204" pitchFamily="34" charset="0"/>
                      </a:endParaRPr>
                    </a:p>
                  </a:txBody>
                  <a:tcPr marL="9274" marR="9274" marT="9274" marB="9274" anchor="ctr"/>
                </a:tc>
                <a:extLst>
                  <a:ext uri="{0D108BD9-81ED-4DB2-BD59-A6C34878D82A}">
                    <a16:rowId xmlns:a16="http://schemas.microsoft.com/office/drawing/2014/main" val="1533384091"/>
                  </a:ext>
                </a:extLst>
              </a:tr>
              <a:tr h="421544">
                <a:tc>
                  <a:txBody>
                    <a:bodyPr/>
                    <a:lstStyle/>
                    <a:p>
                      <a:pPr marL="0" marR="0" algn="l">
                        <a:lnSpc>
                          <a:spcPct val="107000"/>
                        </a:lnSpc>
                        <a:spcAft>
                          <a:spcPts val="800"/>
                        </a:spcAft>
                        <a:buNone/>
                      </a:pPr>
                      <a:r>
                        <a:rPr lang="en-US" sz="1200" kern="100">
                          <a:effectLst/>
                        </a:rPr>
                        <a:t>Rebranding (Logo, Signage, Flyers)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New visual identity &amp; awareness drive</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120,000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1135033755"/>
                  </a:ext>
                </a:extLst>
              </a:tr>
              <a:tr h="421544">
                <a:tc>
                  <a:txBody>
                    <a:bodyPr/>
                    <a:lstStyle/>
                    <a:p>
                      <a:pPr marL="0" marR="0" algn="l">
                        <a:lnSpc>
                          <a:spcPct val="107000"/>
                        </a:lnSpc>
                        <a:spcAft>
                          <a:spcPts val="800"/>
                        </a:spcAft>
                        <a:buNone/>
                      </a:pPr>
                      <a:r>
                        <a:rPr lang="en-US" sz="1200" kern="100">
                          <a:effectLst/>
                        </a:rPr>
                        <a:t>Social Media &amp; Digital Ads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Monthly ads on Instagram, Facebook, Google</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100,000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1866650614"/>
                  </a:ext>
                </a:extLst>
              </a:tr>
              <a:tr h="421544">
                <a:tc>
                  <a:txBody>
                    <a:bodyPr/>
                    <a:lstStyle/>
                    <a:p>
                      <a:pPr marL="0" marR="0" algn="l">
                        <a:lnSpc>
                          <a:spcPct val="107000"/>
                        </a:lnSpc>
                        <a:spcAft>
                          <a:spcPts val="800"/>
                        </a:spcAft>
                        <a:buNone/>
                      </a:pPr>
                      <a:r>
                        <a:rPr lang="en-US" sz="1200" kern="100">
                          <a:effectLst/>
                        </a:rPr>
                        <a:t>Customer Feedback Systems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SMS, email surveys, &amp; review platforms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a:effectLst/>
                        </a:rPr>
                        <a:t>120,000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3045134590"/>
                  </a:ext>
                </a:extLst>
              </a:tr>
              <a:tr h="216723">
                <a:tc>
                  <a:txBody>
                    <a:bodyPr/>
                    <a:lstStyle/>
                    <a:p>
                      <a:pPr marL="0" marR="0" algn="l">
                        <a:lnSpc>
                          <a:spcPct val="107000"/>
                        </a:lnSpc>
                        <a:spcAft>
                          <a:spcPts val="800"/>
                        </a:spcAft>
                        <a:buNone/>
                      </a:pPr>
                      <a:r>
                        <a:rPr lang="en-US" sz="1200" kern="100">
                          <a:effectLst/>
                        </a:rPr>
                        <a:t>Subtotal – Marketing</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tc>
                  <a:txBody>
                    <a:bodyPr/>
                    <a:lstStyle/>
                    <a:p>
                      <a:pPr algn="l">
                        <a:lnSpc>
                          <a:spcPct val="107000"/>
                        </a:lnSpc>
                        <a:buNone/>
                      </a:pPr>
                      <a:endParaRPr lang="en-KE" sz="1100" kern="100">
                        <a:effectLst/>
                        <a:latin typeface="Aptos" panose="020B0004020202020204" pitchFamily="34" charset="0"/>
                      </a:endParaRPr>
                    </a:p>
                  </a:txBody>
                  <a:tcPr marL="9274" marR="9274" marT="9274" marB="9274" anchor="ctr"/>
                </a:tc>
                <a:tc>
                  <a:txBody>
                    <a:bodyPr/>
                    <a:lstStyle/>
                    <a:p>
                      <a:pPr marL="0" marR="0" algn="l">
                        <a:lnSpc>
                          <a:spcPct val="107000"/>
                        </a:lnSpc>
                        <a:spcAft>
                          <a:spcPts val="800"/>
                        </a:spcAft>
                        <a:buNone/>
                      </a:pPr>
                      <a:r>
                        <a:rPr lang="en-US" sz="1200" kern="100" dirty="0">
                          <a:effectLst/>
                        </a:rPr>
                        <a:t>540,000</a:t>
                      </a:r>
                      <a:endParaRPr lang="en-KE" sz="1100" kern="100" dirty="0">
                        <a:effectLst/>
                        <a:latin typeface="Aptos" panose="020B0004020202020204" pitchFamily="34" charset="0"/>
                        <a:ea typeface="Aptos" panose="020B0004020202020204" pitchFamily="34" charset="0"/>
                        <a:cs typeface="Arial" panose="020B0604020202020204" pitchFamily="34" charset="0"/>
                      </a:endParaRPr>
                    </a:p>
                  </a:txBody>
                  <a:tcPr marL="9274" marR="9274" marT="9274" marB="9274" anchor="ctr"/>
                </a:tc>
                <a:extLst>
                  <a:ext uri="{0D108BD9-81ED-4DB2-BD59-A6C34878D82A}">
                    <a16:rowId xmlns:a16="http://schemas.microsoft.com/office/drawing/2014/main" val="268874473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EE82EFA6-7FC8-E61B-F25F-3BF57E147BB9}"/>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A2C18A45-3E65-57A8-9A88-1C6662BDED55}"/>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14</a:t>
            </a:fld>
            <a:endParaRPr spc="-25" dirty="0"/>
          </a:p>
        </p:txBody>
      </p:sp>
      <p:sp>
        <p:nvSpPr>
          <p:cNvPr id="2" name="object 2">
            <a:extLst>
              <a:ext uri="{FF2B5EF4-FFF2-40B4-BE49-F238E27FC236}">
                <a16:creationId xmlns:a16="http://schemas.microsoft.com/office/drawing/2014/main" id="{068B67A4-7B61-935C-7FA8-45EEBAAD845B}"/>
              </a:ext>
            </a:extLst>
          </p:cNvPr>
          <p:cNvSpPr txBox="1"/>
          <p:nvPr/>
        </p:nvSpPr>
        <p:spPr>
          <a:xfrm>
            <a:off x="6704838" y="435356"/>
            <a:ext cx="168910" cy="193675"/>
          </a:xfrm>
          <a:prstGeom prst="rect">
            <a:avLst/>
          </a:prstGeom>
        </p:spPr>
        <p:txBody>
          <a:bodyPr vert="horz" wrap="square" lIns="0" tIns="12700" rIns="0" bIns="0" rtlCol="0">
            <a:spAutoFit/>
          </a:bodyPr>
          <a:lstStyle/>
          <a:p>
            <a:pPr marL="12700">
              <a:lnSpc>
                <a:spcPct val="100000"/>
              </a:lnSpc>
              <a:spcBef>
                <a:spcPts val="100"/>
              </a:spcBef>
            </a:pPr>
            <a:r>
              <a:rPr sz="1100" spc="-25" dirty="0">
                <a:latin typeface="Calibri"/>
                <a:cs typeface="Calibri"/>
              </a:rPr>
              <a:t>16</a:t>
            </a:r>
            <a:endParaRPr sz="1100">
              <a:latin typeface="Calibri"/>
              <a:cs typeface="Calibri"/>
            </a:endParaRPr>
          </a:p>
        </p:txBody>
      </p:sp>
      <p:graphicFrame>
        <p:nvGraphicFramePr>
          <p:cNvPr id="3" name="Table 2">
            <a:extLst>
              <a:ext uri="{FF2B5EF4-FFF2-40B4-BE49-F238E27FC236}">
                <a16:creationId xmlns:a16="http://schemas.microsoft.com/office/drawing/2014/main" id="{477939C1-9B1A-8F27-1D34-008590CCADD2}"/>
              </a:ext>
            </a:extLst>
          </p:cNvPr>
          <p:cNvGraphicFramePr>
            <a:graphicFrameLocks noGrp="1"/>
          </p:cNvGraphicFramePr>
          <p:nvPr>
            <p:extLst>
              <p:ext uri="{D42A27DB-BD31-4B8C-83A1-F6EECF244321}">
                <p14:modId xmlns:p14="http://schemas.microsoft.com/office/powerpoint/2010/main" val="1660731676"/>
              </p:ext>
            </p:extLst>
          </p:nvPr>
        </p:nvGraphicFramePr>
        <p:xfrm>
          <a:off x="838200" y="762000"/>
          <a:ext cx="6096000" cy="7619999"/>
        </p:xfrm>
        <a:graphic>
          <a:graphicData uri="http://schemas.openxmlformats.org/drawingml/2006/table">
            <a:tbl>
              <a:tblPr firstRow="1" firstCol="1" bandRow="1">
                <a:tableStyleId>{5C22544A-7EE6-4342-B048-85BDC9FD1C3A}</a:tableStyleId>
              </a:tblPr>
              <a:tblGrid>
                <a:gridCol w="1654208">
                  <a:extLst>
                    <a:ext uri="{9D8B030D-6E8A-4147-A177-3AD203B41FA5}">
                      <a16:colId xmlns:a16="http://schemas.microsoft.com/office/drawing/2014/main" val="3030039896"/>
                    </a:ext>
                  </a:extLst>
                </a:gridCol>
                <a:gridCol w="2787584">
                  <a:extLst>
                    <a:ext uri="{9D8B030D-6E8A-4147-A177-3AD203B41FA5}">
                      <a16:colId xmlns:a16="http://schemas.microsoft.com/office/drawing/2014/main" val="2174205083"/>
                    </a:ext>
                  </a:extLst>
                </a:gridCol>
                <a:gridCol w="1654208">
                  <a:extLst>
                    <a:ext uri="{9D8B030D-6E8A-4147-A177-3AD203B41FA5}">
                      <a16:colId xmlns:a16="http://schemas.microsoft.com/office/drawing/2014/main" val="710653411"/>
                    </a:ext>
                  </a:extLst>
                </a:gridCol>
              </a:tblGrid>
              <a:tr h="2087764">
                <a:tc>
                  <a:txBody>
                    <a:bodyPr/>
                    <a:lstStyle/>
                    <a:p>
                      <a:pPr marL="0" marR="0" algn="l">
                        <a:lnSpc>
                          <a:spcPct val="107000"/>
                        </a:lnSpc>
                        <a:spcAft>
                          <a:spcPts val="800"/>
                        </a:spcAft>
                        <a:buNone/>
                      </a:pPr>
                      <a:r>
                        <a:rPr lang="en-US" sz="1200" kern="100">
                          <a:effectLst/>
                        </a:rPr>
                        <a:t>4. Operations &amp; Facilities</a:t>
                      </a:r>
                      <a:endParaRPr lang="en-KE" sz="1100" kern="100">
                        <a:effectLst/>
                      </a:endParaRPr>
                    </a:p>
                    <a:p>
                      <a:pPr marL="0" marR="0" algn="l">
                        <a:lnSpc>
                          <a:spcPct val="107000"/>
                        </a:lnSpc>
                        <a:spcAft>
                          <a:spcPts val="800"/>
                        </a:spcAft>
                        <a:buNone/>
                      </a:pPr>
                      <a:r>
                        <a:rPr lang="en-US" sz="1200" kern="100">
                          <a:effectLst/>
                        </a:rPr>
                        <a:t>Energy-efficient dryers</a:t>
                      </a:r>
                      <a:endParaRPr lang="en-KE" sz="1100" kern="100">
                        <a:effectLst/>
                      </a:endParaRPr>
                    </a:p>
                    <a:p>
                      <a:pPr marL="0" marR="0" algn="l">
                        <a:lnSpc>
                          <a:spcPct val="107000"/>
                        </a:lnSpc>
                        <a:spcAft>
                          <a:spcPts val="800"/>
                        </a:spcAft>
                        <a:buNone/>
                      </a:pPr>
                      <a:r>
                        <a:rPr lang="en-US" sz="1200" kern="100">
                          <a:effectLst/>
                        </a:rPr>
                        <a:t>And washers</a:t>
                      </a:r>
                      <a:endParaRPr lang="en-KE" sz="1100" kern="100">
                        <a:effectLst/>
                      </a:endParaRPr>
                    </a:p>
                    <a:p>
                      <a:pPr marL="0" marR="0" algn="l">
                        <a:lnSpc>
                          <a:spcPct val="107000"/>
                        </a:lnSpc>
                        <a:spcAft>
                          <a:spcPts val="800"/>
                        </a:spcAft>
                        <a:buNone/>
                      </a:pPr>
                      <a:r>
                        <a:rPr lang="en-US" sz="1200" kern="100">
                          <a:effectLst/>
                        </a:rPr>
                        <a:t>Water tanks and purification</a:t>
                      </a:r>
                      <a:endParaRPr lang="en-KE" sz="1100" kern="100">
                        <a:effectLst/>
                      </a:endParaRPr>
                    </a:p>
                    <a:p>
                      <a:pPr marL="0" marR="0" algn="l">
                        <a:lnSpc>
                          <a:spcPct val="107000"/>
                        </a:lnSpc>
                        <a:spcAft>
                          <a:spcPts val="800"/>
                        </a:spcAft>
                        <a:buNone/>
                      </a:pPr>
                      <a:r>
                        <a:rPr lang="en-US" sz="1200" kern="100">
                          <a:effectLst/>
                        </a:rPr>
                        <a:t>System</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dirty="0">
                          <a:effectLst/>
                        </a:rPr>
                        <a:t> </a:t>
                      </a:r>
                      <a:endParaRPr lang="en-KE" sz="1100" kern="100" dirty="0">
                        <a:effectLst/>
                      </a:endParaRPr>
                    </a:p>
                    <a:p>
                      <a:pPr marL="0" marR="0" algn="l">
                        <a:lnSpc>
                          <a:spcPct val="107000"/>
                        </a:lnSpc>
                        <a:spcAft>
                          <a:spcPts val="800"/>
                        </a:spcAft>
                        <a:buNone/>
                      </a:pPr>
                      <a:r>
                        <a:rPr lang="en-US" sz="1200" kern="100" dirty="0">
                          <a:effectLst/>
                        </a:rPr>
                        <a:t>Eco-friendly dryers and washers</a:t>
                      </a:r>
                      <a:endParaRPr lang="en-KE" sz="1100" kern="100" dirty="0">
                        <a:effectLst/>
                      </a:endParaRPr>
                    </a:p>
                    <a:p>
                      <a:pPr marL="0" marR="0" algn="l">
                        <a:lnSpc>
                          <a:spcPct val="107000"/>
                        </a:lnSpc>
                        <a:spcAft>
                          <a:spcPts val="800"/>
                        </a:spcAft>
                        <a:buNone/>
                      </a:pPr>
                      <a:r>
                        <a:rPr lang="en-US" sz="1200" kern="100" dirty="0">
                          <a:effectLst/>
                        </a:rPr>
                        <a:t> </a:t>
                      </a:r>
                      <a:endParaRPr lang="en-KE" sz="1100" kern="100" dirty="0">
                        <a:effectLst/>
                      </a:endParaRPr>
                    </a:p>
                    <a:p>
                      <a:pPr marL="0" marR="0" algn="l">
                        <a:lnSpc>
                          <a:spcPct val="107000"/>
                        </a:lnSpc>
                        <a:spcAft>
                          <a:spcPts val="800"/>
                        </a:spcAft>
                        <a:buNone/>
                      </a:pPr>
                      <a:r>
                        <a:rPr lang="en-US" sz="1200" kern="100" dirty="0">
                          <a:effectLst/>
                        </a:rPr>
                        <a:t>3 water tanks and a purification system</a:t>
                      </a:r>
                      <a:endParaRPr lang="en-KE" sz="1100" kern="100" dirty="0">
                        <a:effectLst/>
                      </a:endParaRPr>
                    </a:p>
                    <a:p>
                      <a:pPr marL="0" marR="0" algn="l">
                        <a:lnSpc>
                          <a:spcPct val="107000"/>
                        </a:lnSpc>
                        <a:spcAft>
                          <a:spcPts val="800"/>
                        </a:spcAft>
                        <a:buNone/>
                      </a:pPr>
                      <a:r>
                        <a:rPr lang="en-US" sz="1200" kern="100" dirty="0">
                          <a:effectLst/>
                        </a:rPr>
                        <a:t> </a:t>
                      </a:r>
                      <a:endParaRPr lang="en-KE" sz="11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1,200,000</a:t>
                      </a:r>
                      <a:endParaRPr lang="en-KE" sz="1100" kern="100">
                        <a:effectLst/>
                      </a:endParaRPr>
                    </a:p>
                    <a:p>
                      <a:pPr marL="0" marR="0" algn="l">
                        <a:lnSpc>
                          <a:spcPct val="107000"/>
                        </a:lnSpc>
                        <a:spcAft>
                          <a:spcPts val="800"/>
                        </a:spcAft>
                        <a:buNone/>
                      </a:pPr>
                      <a:r>
                        <a:rPr lang="en-US" sz="1200" kern="100">
                          <a:effectLst/>
                        </a:rPr>
                        <a:t> </a:t>
                      </a:r>
                      <a:endParaRPr lang="en-KE" sz="1100" kern="100">
                        <a:effectLst/>
                      </a:endParaRPr>
                    </a:p>
                    <a:p>
                      <a:pPr marL="0" marR="0" algn="l">
                        <a:lnSpc>
                          <a:spcPct val="107000"/>
                        </a:lnSpc>
                        <a:spcAft>
                          <a:spcPts val="800"/>
                        </a:spcAft>
                        <a:buNone/>
                      </a:pPr>
                      <a:r>
                        <a:rPr lang="en-US" sz="1200" kern="100">
                          <a:effectLst/>
                        </a:rPr>
                        <a:t>450,000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310275386"/>
                  </a:ext>
                </a:extLst>
              </a:tr>
              <a:tr h="817951">
                <a:tc>
                  <a:txBody>
                    <a:bodyPr/>
                    <a:lstStyle/>
                    <a:p>
                      <a:pPr marL="0" marR="0" algn="l">
                        <a:lnSpc>
                          <a:spcPct val="107000"/>
                        </a:lnSpc>
                        <a:spcAft>
                          <a:spcPts val="800"/>
                        </a:spcAft>
                        <a:buNone/>
                      </a:pPr>
                      <a:r>
                        <a:rPr lang="en-US" sz="1200" kern="100">
                          <a:effectLst/>
                        </a:rPr>
                        <a:t>Solar/ energy optimization</a:t>
                      </a:r>
                      <a:endParaRPr lang="en-KE" sz="1100" kern="100">
                        <a:effectLst/>
                      </a:endParaRPr>
                    </a:p>
                    <a:p>
                      <a:pPr marL="0" marR="0" algn="l">
                        <a:lnSpc>
                          <a:spcPct val="107000"/>
                        </a:lnSpc>
                        <a:spcAft>
                          <a:spcPts val="800"/>
                        </a:spcAft>
                        <a:buNone/>
                      </a:pPr>
                      <a:r>
                        <a:rPr lang="en-US" sz="1200" kern="100">
                          <a:effectLst/>
                        </a:rPr>
                        <a:t>System</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 </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500,000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555270782"/>
                  </a:ext>
                </a:extLst>
              </a:tr>
              <a:tr h="699332">
                <a:tc>
                  <a:txBody>
                    <a:bodyPr/>
                    <a:lstStyle/>
                    <a:p>
                      <a:pPr marL="0" marR="0" algn="l">
                        <a:lnSpc>
                          <a:spcPct val="107000"/>
                        </a:lnSpc>
                        <a:spcAft>
                          <a:spcPts val="800"/>
                        </a:spcAft>
                        <a:buNone/>
                      </a:pPr>
                      <a:r>
                        <a:rPr lang="en-US" sz="1200" kern="100">
                          <a:effectLst/>
                        </a:rPr>
                        <a:t>Repairs and Maintenance of buildings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 </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200,000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30454092"/>
                  </a:ext>
                </a:extLst>
              </a:tr>
              <a:tr h="470843">
                <a:tc>
                  <a:txBody>
                    <a:bodyPr/>
                    <a:lstStyle/>
                    <a:p>
                      <a:pPr marL="0" marR="0" algn="l">
                        <a:lnSpc>
                          <a:spcPct val="107000"/>
                        </a:lnSpc>
                        <a:spcAft>
                          <a:spcPts val="800"/>
                        </a:spcAft>
                        <a:buNone/>
                      </a:pPr>
                      <a:r>
                        <a:rPr lang="en-US" sz="1200" kern="100">
                          <a:effectLst/>
                        </a:rPr>
                        <a:t>Repairs &amp; Maintenance of Machines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Washer/dryer service &amp; spare parts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680,000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251123060"/>
                  </a:ext>
                </a:extLst>
              </a:tr>
              <a:tr h="470843">
                <a:tc>
                  <a:txBody>
                    <a:bodyPr/>
                    <a:lstStyle/>
                    <a:p>
                      <a:pPr marL="0" marR="0" algn="l">
                        <a:lnSpc>
                          <a:spcPct val="107000"/>
                        </a:lnSpc>
                        <a:spcAft>
                          <a:spcPts val="800"/>
                        </a:spcAft>
                        <a:buNone/>
                      </a:pPr>
                      <a:r>
                        <a:rPr lang="en-US" sz="1200" kern="100">
                          <a:effectLst/>
                        </a:rPr>
                        <a:t>Utility Costs (Water, Electricity)</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Monthly usage @ ~KES 100,000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1,200,000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83535402"/>
                  </a:ext>
                </a:extLst>
              </a:tr>
              <a:tr h="470843">
                <a:tc>
                  <a:txBody>
                    <a:bodyPr/>
                    <a:lstStyle/>
                    <a:p>
                      <a:pPr marL="0" marR="0" algn="l">
                        <a:lnSpc>
                          <a:spcPct val="107000"/>
                        </a:lnSpc>
                        <a:spcAft>
                          <a:spcPts val="800"/>
                        </a:spcAft>
                        <a:buNone/>
                      </a:pPr>
                      <a:r>
                        <a:rPr lang="en-US" sz="1200" kern="100">
                          <a:effectLst/>
                        </a:rPr>
                        <a:t>Transport &amp; Fuel (Pickup/Delivery Vans)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Fuel &amp; service for 2 vehicles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1,200,000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565591869"/>
                  </a:ext>
                </a:extLst>
              </a:tr>
              <a:tr h="242353">
                <a:tc>
                  <a:txBody>
                    <a:bodyPr/>
                    <a:lstStyle/>
                    <a:p>
                      <a:pPr marL="0" marR="0" algn="l">
                        <a:lnSpc>
                          <a:spcPct val="107000"/>
                        </a:lnSpc>
                        <a:spcAft>
                          <a:spcPts val="800"/>
                        </a:spcAft>
                        <a:buNone/>
                      </a:pPr>
                      <a:r>
                        <a:rPr lang="en-US" sz="1200" kern="100">
                          <a:effectLst/>
                        </a:rPr>
                        <a:t>Detergents &amp; Supplies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Monthly operational supplies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960,000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923329854"/>
                  </a:ext>
                </a:extLst>
              </a:tr>
              <a:tr h="242353">
                <a:tc>
                  <a:txBody>
                    <a:bodyPr/>
                    <a:lstStyle/>
                    <a:p>
                      <a:pPr marL="0" marR="0" algn="l">
                        <a:lnSpc>
                          <a:spcPct val="107000"/>
                        </a:lnSpc>
                        <a:spcAft>
                          <a:spcPts val="800"/>
                        </a:spcAft>
                        <a:buNone/>
                      </a:pPr>
                      <a:r>
                        <a:rPr lang="en-US" sz="1200" kern="100">
                          <a:effectLst/>
                        </a:rPr>
                        <a:t>Subtotal – Operations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07000"/>
                        </a:lnSpc>
                        <a:buNone/>
                      </a:pPr>
                      <a:endParaRPr lang="en-KE" sz="1100" kern="100">
                        <a:effectLst/>
                        <a:latin typeface="Aptos" panose="020B00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6,390,000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585574375"/>
                  </a:ext>
                </a:extLst>
              </a:tr>
              <a:tr h="224486">
                <a:tc>
                  <a:txBody>
                    <a:bodyPr/>
                    <a:lstStyle/>
                    <a:p>
                      <a:pPr algn="l">
                        <a:lnSpc>
                          <a:spcPct val="107000"/>
                        </a:lnSpc>
                        <a:buNone/>
                      </a:pPr>
                      <a:endParaRPr lang="en-KE" sz="1100" kern="100">
                        <a:effectLst/>
                        <a:latin typeface="Aptos" panose="020B0004020202020204" pitchFamily="34" charset="0"/>
                      </a:endParaRPr>
                    </a:p>
                  </a:txBody>
                  <a:tcPr marL="9525" marR="9525" marT="9525" marB="9525" anchor="ctr"/>
                </a:tc>
                <a:tc>
                  <a:txBody>
                    <a:bodyPr/>
                    <a:lstStyle/>
                    <a:p>
                      <a:pPr algn="l">
                        <a:lnSpc>
                          <a:spcPct val="107000"/>
                        </a:lnSpc>
                        <a:buNone/>
                      </a:pPr>
                      <a:endParaRPr lang="en-KE" sz="1100" kern="100">
                        <a:effectLst/>
                        <a:latin typeface="Aptos" panose="020B0004020202020204" pitchFamily="34" charset="0"/>
                      </a:endParaRPr>
                    </a:p>
                  </a:txBody>
                  <a:tcPr marL="9525" marR="9525" marT="9525" marB="9525" anchor="ctr"/>
                </a:tc>
                <a:tc>
                  <a:txBody>
                    <a:bodyPr/>
                    <a:lstStyle/>
                    <a:p>
                      <a:pPr algn="l">
                        <a:lnSpc>
                          <a:spcPct val="107000"/>
                        </a:lnSpc>
                        <a:buNone/>
                      </a:pPr>
                      <a:endParaRPr lang="en-KE" sz="1100" kern="100">
                        <a:effectLst/>
                        <a:latin typeface="Aptos" panose="020B0004020202020204" pitchFamily="34" charset="0"/>
                      </a:endParaRPr>
                    </a:p>
                  </a:txBody>
                  <a:tcPr marL="9525" marR="9525" marT="9525" marB="9525" anchor="ctr"/>
                </a:tc>
                <a:extLst>
                  <a:ext uri="{0D108BD9-81ED-4DB2-BD59-A6C34878D82A}">
                    <a16:rowId xmlns:a16="http://schemas.microsoft.com/office/drawing/2014/main" val="97608386"/>
                  </a:ext>
                </a:extLst>
              </a:tr>
              <a:tr h="470843">
                <a:tc>
                  <a:txBody>
                    <a:bodyPr/>
                    <a:lstStyle/>
                    <a:p>
                      <a:pPr marL="0" marR="0" algn="l">
                        <a:lnSpc>
                          <a:spcPct val="107000"/>
                        </a:lnSpc>
                        <a:spcAft>
                          <a:spcPts val="800"/>
                        </a:spcAft>
                        <a:buNone/>
                      </a:pPr>
                      <a:r>
                        <a:rPr lang="en-US" sz="1200" kern="100">
                          <a:effectLst/>
                        </a:rPr>
                        <a:t>5. Monitoring &amp; Evaluation</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07000"/>
                        </a:lnSpc>
                        <a:buNone/>
                      </a:pPr>
                      <a:endParaRPr lang="en-KE" sz="1100" kern="100">
                        <a:effectLst/>
                        <a:latin typeface="Aptos" panose="020B0004020202020204" pitchFamily="34" charset="0"/>
                      </a:endParaRPr>
                    </a:p>
                  </a:txBody>
                  <a:tcPr marL="9525" marR="9525" marT="9525" marB="9525" anchor="ctr"/>
                </a:tc>
                <a:tc>
                  <a:txBody>
                    <a:bodyPr/>
                    <a:lstStyle/>
                    <a:p>
                      <a:pPr algn="l">
                        <a:lnSpc>
                          <a:spcPct val="107000"/>
                        </a:lnSpc>
                        <a:buNone/>
                      </a:pPr>
                      <a:endParaRPr lang="en-KE" sz="1100" kern="100">
                        <a:effectLst/>
                        <a:latin typeface="Aptos" panose="020B0004020202020204" pitchFamily="34" charset="0"/>
                      </a:endParaRPr>
                    </a:p>
                  </a:txBody>
                  <a:tcPr marL="9525" marR="9525" marT="9525" marB="9525" anchor="ctr"/>
                </a:tc>
                <a:extLst>
                  <a:ext uri="{0D108BD9-81ED-4DB2-BD59-A6C34878D82A}">
                    <a16:rowId xmlns:a16="http://schemas.microsoft.com/office/drawing/2014/main" val="4002659969"/>
                  </a:ext>
                </a:extLst>
              </a:tr>
              <a:tr h="242353">
                <a:tc>
                  <a:txBody>
                    <a:bodyPr/>
                    <a:lstStyle/>
                    <a:p>
                      <a:pPr marL="0" marR="0" algn="l">
                        <a:lnSpc>
                          <a:spcPct val="107000"/>
                        </a:lnSpc>
                        <a:spcAft>
                          <a:spcPts val="800"/>
                        </a:spcAft>
                        <a:buNone/>
                      </a:pPr>
                      <a:r>
                        <a:rPr lang="en-US" sz="1200" kern="100">
                          <a:effectLst/>
                        </a:rPr>
                        <a:t>M&amp;E Tools &amp; Forms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Templates, logbooks, data sheets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280,000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102094156"/>
                  </a:ext>
                </a:extLst>
              </a:tr>
              <a:tr h="470843">
                <a:tc>
                  <a:txBody>
                    <a:bodyPr/>
                    <a:lstStyle/>
                    <a:p>
                      <a:pPr marL="0" marR="0" algn="l">
                        <a:lnSpc>
                          <a:spcPct val="107000"/>
                        </a:lnSpc>
                        <a:spcAft>
                          <a:spcPts val="800"/>
                        </a:spcAft>
                        <a:buNone/>
                      </a:pPr>
                      <a:r>
                        <a:rPr lang="en-US" sz="1200" kern="100">
                          <a:effectLst/>
                        </a:rPr>
                        <a:t>Quarterly Performance Reviews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Reports, consultant fees, data analysis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280,000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65683848"/>
                  </a:ext>
                </a:extLst>
              </a:tr>
              <a:tr h="242353">
                <a:tc>
                  <a:txBody>
                    <a:bodyPr/>
                    <a:lstStyle/>
                    <a:p>
                      <a:pPr marL="0" marR="0" algn="l">
                        <a:lnSpc>
                          <a:spcPct val="107000"/>
                        </a:lnSpc>
                        <a:spcAft>
                          <a:spcPts val="800"/>
                        </a:spcAft>
                        <a:buNone/>
                      </a:pPr>
                      <a:r>
                        <a:rPr lang="en-US" sz="1200" kern="100">
                          <a:effectLst/>
                        </a:rPr>
                        <a:t>Subtotal – M&amp;E</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07000"/>
                        </a:lnSpc>
                        <a:buNone/>
                      </a:pPr>
                      <a:endParaRPr lang="en-KE" sz="1100" kern="100">
                        <a:effectLst/>
                        <a:latin typeface="Aptos" panose="020B00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a:effectLst/>
                        </a:rPr>
                        <a:t>560,000</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818662201"/>
                  </a:ext>
                </a:extLst>
              </a:tr>
              <a:tr h="224486">
                <a:tc>
                  <a:txBody>
                    <a:bodyPr/>
                    <a:lstStyle/>
                    <a:p>
                      <a:pPr algn="l">
                        <a:lnSpc>
                          <a:spcPct val="107000"/>
                        </a:lnSpc>
                        <a:buNone/>
                      </a:pPr>
                      <a:endParaRPr lang="en-KE" sz="1100" kern="100">
                        <a:effectLst/>
                        <a:latin typeface="Aptos" panose="020B0004020202020204" pitchFamily="34" charset="0"/>
                      </a:endParaRPr>
                    </a:p>
                  </a:txBody>
                  <a:tcPr marL="9525" marR="9525" marT="9525" marB="9525" anchor="ctr"/>
                </a:tc>
                <a:tc>
                  <a:txBody>
                    <a:bodyPr/>
                    <a:lstStyle/>
                    <a:p>
                      <a:pPr algn="l">
                        <a:lnSpc>
                          <a:spcPct val="107000"/>
                        </a:lnSpc>
                        <a:buNone/>
                      </a:pPr>
                      <a:endParaRPr lang="en-KE" sz="1100" kern="100">
                        <a:effectLst/>
                        <a:latin typeface="Aptos" panose="020B0004020202020204" pitchFamily="34" charset="0"/>
                      </a:endParaRPr>
                    </a:p>
                  </a:txBody>
                  <a:tcPr marL="9525" marR="9525" marT="9525" marB="9525" anchor="ctr"/>
                </a:tc>
                <a:tc>
                  <a:txBody>
                    <a:bodyPr/>
                    <a:lstStyle/>
                    <a:p>
                      <a:pPr algn="l">
                        <a:lnSpc>
                          <a:spcPct val="107000"/>
                        </a:lnSpc>
                        <a:buNone/>
                      </a:pPr>
                      <a:endParaRPr lang="en-KE" sz="1100" kern="100">
                        <a:effectLst/>
                        <a:latin typeface="Aptos" panose="020B0004020202020204" pitchFamily="34" charset="0"/>
                      </a:endParaRPr>
                    </a:p>
                  </a:txBody>
                  <a:tcPr marL="9525" marR="9525" marT="9525" marB="9525" anchor="ctr"/>
                </a:tc>
                <a:extLst>
                  <a:ext uri="{0D108BD9-81ED-4DB2-BD59-A6C34878D82A}">
                    <a16:rowId xmlns:a16="http://schemas.microsoft.com/office/drawing/2014/main" val="1666157062"/>
                  </a:ext>
                </a:extLst>
              </a:tr>
              <a:tr h="242353">
                <a:tc>
                  <a:txBody>
                    <a:bodyPr/>
                    <a:lstStyle/>
                    <a:p>
                      <a:pPr marL="0" marR="0" algn="l">
                        <a:lnSpc>
                          <a:spcPct val="107000"/>
                        </a:lnSpc>
                        <a:spcAft>
                          <a:spcPts val="800"/>
                        </a:spcAft>
                        <a:buNone/>
                      </a:pPr>
                      <a:r>
                        <a:rPr lang="en-US" sz="1200" kern="100">
                          <a:effectLst/>
                        </a:rPr>
                        <a:t>TOTAL BUDGET (KES)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07000"/>
                        </a:lnSpc>
                        <a:buNone/>
                      </a:pPr>
                      <a:endParaRPr lang="en-KE" sz="1100" kern="100">
                        <a:effectLst/>
                        <a:latin typeface="Aptos" panose="020B0004020202020204" pitchFamily="34" charset="0"/>
                      </a:endParaRPr>
                    </a:p>
                  </a:txBody>
                  <a:tcPr marL="9525" marR="9525" marT="9525" marB="9525" anchor="ctr"/>
                </a:tc>
                <a:tc>
                  <a:txBody>
                    <a:bodyPr/>
                    <a:lstStyle/>
                    <a:p>
                      <a:pPr marL="0" marR="0" algn="l">
                        <a:lnSpc>
                          <a:spcPct val="107000"/>
                        </a:lnSpc>
                        <a:spcAft>
                          <a:spcPts val="800"/>
                        </a:spcAft>
                        <a:buNone/>
                      </a:pPr>
                      <a:r>
                        <a:rPr lang="en-US" sz="1200" kern="100" dirty="0">
                          <a:effectLst/>
                        </a:rPr>
                        <a:t>12,690,000</a:t>
                      </a:r>
                      <a:endParaRPr lang="en-KE" sz="11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82599319"/>
                  </a:ext>
                </a:extLst>
              </a:tr>
            </a:tbl>
          </a:graphicData>
        </a:graphic>
      </p:graphicFrame>
    </p:spTree>
    <p:extLst>
      <p:ext uri="{BB962C8B-B14F-4D97-AF65-F5344CB8AC3E}">
        <p14:creationId xmlns:p14="http://schemas.microsoft.com/office/powerpoint/2010/main" val="3330774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15</a:t>
            </a:fld>
            <a:endParaRPr spc="-25" dirty="0"/>
          </a:p>
        </p:txBody>
      </p:sp>
      <p:sp>
        <p:nvSpPr>
          <p:cNvPr id="2" name="object 2"/>
          <p:cNvSpPr txBox="1"/>
          <p:nvPr/>
        </p:nvSpPr>
        <p:spPr>
          <a:xfrm>
            <a:off x="902004" y="435356"/>
            <a:ext cx="5971540" cy="7903895"/>
          </a:xfrm>
          <a:prstGeom prst="rect">
            <a:avLst/>
          </a:prstGeom>
        </p:spPr>
        <p:txBody>
          <a:bodyPr vert="horz" wrap="square" lIns="0" tIns="12700" rIns="0" bIns="0" rtlCol="0">
            <a:spAutoFit/>
          </a:bodyPr>
          <a:lstStyle/>
          <a:p>
            <a:pPr marR="5080" algn="r">
              <a:lnSpc>
                <a:spcPct val="100000"/>
              </a:lnSpc>
              <a:spcBef>
                <a:spcPts val="100"/>
              </a:spcBef>
            </a:pPr>
            <a:r>
              <a:rPr sz="1100" spc="-25" dirty="0">
                <a:latin typeface="Calibri"/>
                <a:cs typeface="Calibri"/>
              </a:rPr>
              <a:t>1</a:t>
            </a:r>
            <a:endParaRPr sz="1100" dirty="0">
              <a:latin typeface="Calibri"/>
              <a:cs typeface="Calibri"/>
            </a:endParaRPr>
          </a:p>
          <a:p>
            <a:pPr>
              <a:lnSpc>
                <a:spcPct val="150000"/>
              </a:lnSpc>
            </a:pPr>
            <a:r>
              <a:rPr lang="en-US" sz="2000" b="1" dirty="0"/>
              <a:t>11. APPENDICES</a:t>
            </a:r>
            <a:endParaRPr lang="en-KE" sz="2000" dirty="0"/>
          </a:p>
          <a:p>
            <a:pPr>
              <a:lnSpc>
                <a:spcPct val="150000"/>
              </a:lnSpc>
            </a:pPr>
            <a:r>
              <a:rPr lang="en-US" sz="1200" dirty="0"/>
              <a:t>This section contains supporting information that provides deeper insight into the rationale behind ALS’s change initiative. These documents and tools offer context and validation for the strategies adopted throughout the project.</a:t>
            </a:r>
            <a:endParaRPr lang="en-KE" sz="1200" dirty="0"/>
          </a:p>
          <a:p>
            <a:pPr>
              <a:lnSpc>
                <a:spcPct val="150000"/>
              </a:lnSpc>
            </a:pPr>
            <a:r>
              <a:rPr lang="en-US" sz="1600" b="1" dirty="0"/>
              <a:t>Appendix A: Theory of Change (</a:t>
            </a:r>
            <a:r>
              <a:rPr lang="en-US" sz="1600" b="1" dirty="0" err="1"/>
              <a:t>ToC</a:t>
            </a:r>
            <a:r>
              <a:rPr lang="en-US" sz="1600" b="1" dirty="0"/>
              <a:t>) Summary</a:t>
            </a:r>
            <a:endParaRPr lang="en-KE" sz="1600" dirty="0"/>
          </a:p>
          <a:p>
            <a:pPr>
              <a:lnSpc>
                <a:spcPct val="150000"/>
              </a:lnSpc>
            </a:pPr>
            <a:r>
              <a:rPr lang="en-US" sz="1200" b="1" dirty="0"/>
              <a:t>Goal:</a:t>
            </a:r>
            <a:br>
              <a:rPr lang="en-US" sz="1200" dirty="0"/>
            </a:br>
            <a:r>
              <a:rPr lang="en-US" sz="1200" dirty="0"/>
              <a:t>To transform ALS into a sustainable, efficient, and client-centered laundry service provider by 2026.</a:t>
            </a:r>
            <a:endParaRPr lang="en-KE" sz="1200" dirty="0"/>
          </a:p>
          <a:p>
            <a:pPr>
              <a:lnSpc>
                <a:spcPct val="150000"/>
              </a:lnSpc>
            </a:pPr>
            <a:r>
              <a:rPr lang="en-US" sz="1200" b="1" dirty="0"/>
              <a:t>Inputs:</a:t>
            </a:r>
            <a:endParaRPr lang="en-KE" sz="1200" dirty="0"/>
          </a:p>
          <a:p>
            <a:pPr lvl="0">
              <a:lnSpc>
                <a:spcPct val="150000"/>
              </a:lnSpc>
            </a:pPr>
            <a:r>
              <a:rPr lang="en-US" sz="1200" dirty="0"/>
              <a:t>Industrial laundry equipment</a:t>
            </a:r>
            <a:endParaRPr lang="en-KE" sz="1200" dirty="0"/>
          </a:p>
          <a:p>
            <a:pPr lvl="0">
              <a:lnSpc>
                <a:spcPct val="150000"/>
              </a:lnSpc>
            </a:pPr>
            <a:r>
              <a:rPr lang="en-US" sz="1200" dirty="0"/>
              <a:t>Skilled and trained staff</a:t>
            </a:r>
            <a:endParaRPr lang="en-KE" sz="1200" dirty="0"/>
          </a:p>
          <a:p>
            <a:pPr lvl="0">
              <a:lnSpc>
                <a:spcPct val="150000"/>
              </a:lnSpc>
            </a:pPr>
            <a:r>
              <a:rPr lang="en-US" sz="1200" dirty="0"/>
              <a:t>Financial investment (KES 5.2M annual budget)</a:t>
            </a:r>
            <a:endParaRPr lang="en-KE" sz="1200" dirty="0"/>
          </a:p>
          <a:p>
            <a:pPr lvl="0">
              <a:lnSpc>
                <a:spcPct val="150000"/>
              </a:lnSpc>
            </a:pPr>
            <a:r>
              <a:rPr lang="en-US" sz="1200" dirty="0"/>
              <a:t>Digital systems for invoicing and feedback</a:t>
            </a:r>
            <a:endParaRPr lang="en-KE" sz="1200" dirty="0"/>
          </a:p>
          <a:p>
            <a:pPr lvl="0">
              <a:lnSpc>
                <a:spcPct val="150000"/>
              </a:lnSpc>
            </a:pPr>
            <a:r>
              <a:rPr lang="en-US" sz="1200" dirty="0"/>
              <a:t>Volunteer support structure</a:t>
            </a:r>
            <a:endParaRPr lang="en-KE" sz="1200" dirty="0"/>
          </a:p>
          <a:p>
            <a:pPr>
              <a:lnSpc>
                <a:spcPct val="150000"/>
              </a:lnSpc>
            </a:pPr>
            <a:r>
              <a:rPr lang="en-US" sz="1200" b="1" dirty="0"/>
              <a:t>Activities:</a:t>
            </a:r>
            <a:endParaRPr lang="en-KE" sz="1200" dirty="0"/>
          </a:p>
          <a:p>
            <a:pPr lvl="0">
              <a:lnSpc>
                <a:spcPct val="150000"/>
              </a:lnSpc>
            </a:pPr>
            <a:r>
              <a:rPr lang="en-US" sz="1200" dirty="0"/>
              <a:t>Upgrade machinery and water systems</a:t>
            </a:r>
            <a:endParaRPr lang="en-KE" sz="1200" dirty="0"/>
          </a:p>
          <a:p>
            <a:pPr lvl="0">
              <a:lnSpc>
                <a:spcPct val="150000"/>
              </a:lnSpc>
            </a:pPr>
            <a:r>
              <a:rPr lang="en-US" sz="1200" dirty="0"/>
              <a:t>Conduct staff training and development</a:t>
            </a:r>
            <a:endParaRPr lang="en-KE" sz="1200" dirty="0"/>
          </a:p>
          <a:p>
            <a:pPr lvl="0">
              <a:lnSpc>
                <a:spcPct val="150000"/>
              </a:lnSpc>
            </a:pPr>
            <a:r>
              <a:rPr lang="en-US" sz="1200" dirty="0"/>
              <a:t>Implement eco-friendly operations</a:t>
            </a:r>
            <a:endParaRPr lang="en-KE" sz="1200" dirty="0"/>
          </a:p>
          <a:p>
            <a:pPr lvl="0">
              <a:lnSpc>
                <a:spcPct val="150000"/>
              </a:lnSpc>
            </a:pPr>
            <a:r>
              <a:rPr lang="en-US" sz="1200" dirty="0"/>
              <a:t>Enhance marketing and customer feedback</a:t>
            </a:r>
            <a:endParaRPr lang="en-KE" sz="1200" dirty="0"/>
          </a:p>
          <a:p>
            <a:pPr lvl="0">
              <a:lnSpc>
                <a:spcPct val="150000"/>
              </a:lnSpc>
            </a:pPr>
            <a:r>
              <a:rPr lang="en-US" sz="1200" dirty="0"/>
              <a:t>Run loyalty and recognition programs</a:t>
            </a:r>
            <a:endParaRPr lang="en-KE" sz="1200" dirty="0"/>
          </a:p>
          <a:p>
            <a:pPr>
              <a:lnSpc>
                <a:spcPct val="150000"/>
              </a:lnSpc>
            </a:pPr>
            <a:r>
              <a:rPr lang="en-US" sz="1200" b="1" dirty="0"/>
              <a:t>Outputs:</a:t>
            </a:r>
            <a:endParaRPr lang="en-KE" sz="1200" dirty="0"/>
          </a:p>
          <a:p>
            <a:pPr lvl="0">
              <a:lnSpc>
                <a:spcPct val="150000"/>
              </a:lnSpc>
            </a:pPr>
            <a:r>
              <a:rPr lang="en-US" sz="1200" dirty="0"/>
              <a:t>3 new laundry branches planned over 3 years</a:t>
            </a:r>
            <a:endParaRPr lang="en-KE" sz="1200" dirty="0"/>
          </a:p>
          <a:p>
            <a:pPr lvl="0">
              <a:lnSpc>
                <a:spcPct val="150000"/>
              </a:lnSpc>
            </a:pPr>
            <a:r>
              <a:rPr lang="en-US" sz="1200" dirty="0"/>
              <a:t>Improved staff efficiency and morale</a:t>
            </a:r>
            <a:endParaRPr lang="en-KE" sz="1200" dirty="0"/>
          </a:p>
          <a:p>
            <a:pPr lvl="0">
              <a:lnSpc>
                <a:spcPct val="150000"/>
              </a:lnSpc>
            </a:pPr>
            <a:r>
              <a:rPr lang="en-US" sz="1200" dirty="0"/>
              <a:t>20% increase in customer satisfaction</a:t>
            </a:r>
            <a:endParaRPr lang="en-KE" sz="1200" dirty="0"/>
          </a:p>
          <a:p>
            <a:pPr lvl="0">
              <a:lnSpc>
                <a:spcPct val="150000"/>
              </a:lnSpc>
            </a:pPr>
            <a:r>
              <a:rPr lang="en-US" sz="1200" dirty="0"/>
              <a:t>Cleaner, faster laundry processes</a:t>
            </a:r>
            <a:endParaRPr lang="en-KE" sz="1200" dirty="0"/>
          </a:p>
          <a:p>
            <a:pPr lvl="0">
              <a:lnSpc>
                <a:spcPct val="150000"/>
              </a:lnSpc>
            </a:pPr>
            <a:r>
              <a:rPr lang="en-US" sz="1200" dirty="0"/>
              <a:t>Strong community reputation</a:t>
            </a:r>
            <a:endParaRPr lang="en-KE" sz="1200" dirty="0"/>
          </a:p>
          <a:p>
            <a:pPr>
              <a:lnSpc>
                <a:spcPct val="150000"/>
              </a:lnSpc>
            </a:pPr>
            <a:endParaRPr lang="en-KE"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F5ED5A4E-4F8A-8E1D-F80D-F2B814B0051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7469096-287F-79A6-8C4C-931A7605692E}"/>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16</a:t>
            </a:fld>
            <a:endParaRPr spc="-25" dirty="0"/>
          </a:p>
        </p:txBody>
      </p:sp>
      <p:sp>
        <p:nvSpPr>
          <p:cNvPr id="2" name="object 2">
            <a:extLst>
              <a:ext uri="{FF2B5EF4-FFF2-40B4-BE49-F238E27FC236}">
                <a16:creationId xmlns:a16="http://schemas.microsoft.com/office/drawing/2014/main" id="{D54F8555-781B-8E6F-53CD-A7AE40ED146C}"/>
              </a:ext>
            </a:extLst>
          </p:cNvPr>
          <p:cNvSpPr txBox="1"/>
          <p:nvPr/>
        </p:nvSpPr>
        <p:spPr>
          <a:xfrm>
            <a:off x="902004" y="435356"/>
            <a:ext cx="5971540" cy="3194914"/>
          </a:xfrm>
          <a:prstGeom prst="rect">
            <a:avLst/>
          </a:prstGeom>
        </p:spPr>
        <p:txBody>
          <a:bodyPr vert="horz" wrap="square" lIns="0" tIns="12700" rIns="0" bIns="0" rtlCol="0">
            <a:spAutoFit/>
          </a:bodyPr>
          <a:lstStyle/>
          <a:p>
            <a:pPr marR="5080" algn="r">
              <a:lnSpc>
                <a:spcPct val="100000"/>
              </a:lnSpc>
              <a:spcBef>
                <a:spcPts val="100"/>
              </a:spcBef>
            </a:pPr>
            <a:r>
              <a:rPr sz="1100" spc="-25" dirty="0">
                <a:latin typeface="Calibri"/>
                <a:cs typeface="Calibri"/>
              </a:rPr>
              <a:t>1</a:t>
            </a:r>
            <a:endParaRPr sz="1100" dirty="0">
              <a:latin typeface="Calibri"/>
              <a:cs typeface="Calibri"/>
            </a:endParaRPr>
          </a:p>
          <a:p>
            <a:pPr>
              <a:lnSpc>
                <a:spcPct val="150000"/>
              </a:lnSpc>
            </a:pPr>
            <a:r>
              <a:rPr lang="en-US" sz="1200" b="1" dirty="0"/>
              <a:t>Outcomes (Short to Mid-Term):</a:t>
            </a:r>
            <a:endParaRPr lang="en-KE" sz="1200" dirty="0"/>
          </a:p>
          <a:p>
            <a:pPr lvl="0">
              <a:lnSpc>
                <a:spcPct val="150000"/>
              </a:lnSpc>
            </a:pPr>
            <a:r>
              <a:rPr lang="en-US" sz="1200" dirty="0"/>
              <a:t>Enhanced competitiveness in Nairobi and Thika</a:t>
            </a:r>
            <a:endParaRPr lang="en-KE" sz="1200" dirty="0"/>
          </a:p>
          <a:p>
            <a:pPr lvl="0">
              <a:lnSpc>
                <a:spcPct val="150000"/>
              </a:lnSpc>
            </a:pPr>
            <a:r>
              <a:rPr lang="en-US" sz="1200" dirty="0"/>
              <a:t>Reduced operational costs</a:t>
            </a:r>
            <a:endParaRPr lang="en-KE" sz="1200" dirty="0"/>
          </a:p>
          <a:p>
            <a:pPr lvl="0">
              <a:lnSpc>
                <a:spcPct val="150000"/>
              </a:lnSpc>
            </a:pPr>
            <a:r>
              <a:rPr lang="en-US" sz="1200" dirty="0"/>
              <a:t>Stronger staff retention and performance</a:t>
            </a:r>
            <a:endParaRPr lang="en-KE" sz="1200" dirty="0"/>
          </a:p>
          <a:p>
            <a:pPr lvl="0">
              <a:lnSpc>
                <a:spcPct val="150000"/>
              </a:lnSpc>
            </a:pPr>
            <a:r>
              <a:rPr lang="en-US" sz="1200" dirty="0"/>
              <a:t>Higher referral and repeat clients</a:t>
            </a:r>
            <a:endParaRPr lang="en-KE" sz="1200" dirty="0"/>
          </a:p>
          <a:p>
            <a:pPr>
              <a:lnSpc>
                <a:spcPct val="150000"/>
              </a:lnSpc>
            </a:pPr>
            <a:r>
              <a:rPr lang="en-US" sz="1200" b="1" dirty="0"/>
              <a:t>Impact (Long-Term):</a:t>
            </a:r>
            <a:endParaRPr lang="en-KE" sz="1200" dirty="0"/>
          </a:p>
          <a:p>
            <a:pPr lvl="0">
              <a:lnSpc>
                <a:spcPct val="150000"/>
              </a:lnSpc>
            </a:pPr>
            <a:r>
              <a:rPr lang="en-US" sz="1200" dirty="0"/>
              <a:t>ALS becomes the preferred sustainable laundry brand in Kenya</a:t>
            </a:r>
            <a:endParaRPr lang="en-KE" sz="1200" dirty="0"/>
          </a:p>
          <a:p>
            <a:pPr lvl="0">
              <a:lnSpc>
                <a:spcPct val="150000"/>
              </a:lnSpc>
            </a:pPr>
            <a:r>
              <a:rPr lang="en-US" sz="1200" dirty="0"/>
              <a:t>Job creation and local partnerships grow</a:t>
            </a:r>
            <a:endParaRPr lang="en-KE" sz="1200" dirty="0"/>
          </a:p>
          <a:p>
            <a:pPr lvl="0">
              <a:lnSpc>
                <a:spcPct val="150000"/>
              </a:lnSpc>
            </a:pPr>
            <a:r>
              <a:rPr lang="en-US" sz="1200" dirty="0"/>
              <a:t>ALS contributes to eco-conscious business culture</a:t>
            </a:r>
          </a:p>
          <a:p>
            <a:pPr lvl="0">
              <a:lnSpc>
                <a:spcPct val="150000"/>
              </a:lnSpc>
            </a:pPr>
            <a:endParaRPr lang="en-US" sz="1200" dirty="0"/>
          </a:p>
          <a:p>
            <a:pPr lvl="0">
              <a:lnSpc>
                <a:spcPct val="150000"/>
              </a:lnSpc>
            </a:pPr>
            <a:endParaRPr lang="en-KE" sz="1200" dirty="0"/>
          </a:p>
        </p:txBody>
      </p:sp>
      <p:graphicFrame>
        <p:nvGraphicFramePr>
          <p:cNvPr id="4" name="Table 3">
            <a:extLst>
              <a:ext uri="{FF2B5EF4-FFF2-40B4-BE49-F238E27FC236}">
                <a16:creationId xmlns:a16="http://schemas.microsoft.com/office/drawing/2014/main" id="{AEB2677E-50D6-C611-C059-3B02757617EF}"/>
              </a:ext>
            </a:extLst>
          </p:cNvPr>
          <p:cNvGraphicFramePr>
            <a:graphicFrameLocks noGrp="1"/>
          </p:cNvGraphicFramePr>
          <p:nvPr>
            <p:extLst>
              <p:ext uri="{D42A27DB-BD31-4B8C-83A1-F6EECF244321}">
                <p14:modId xmlns:p14="http://schemas.microsoft.com/office/powerpoint/2010/main" val="2774047396"/>
              </p:ext>
            </p:extLst>
          </p:nvPr>
        </p:nvGraphicFramePr>
        <p:xfrm>
          <a:off x="838200" y="3962400"/>
          <a:ext cx="6553200" cy="2514600"/>
        </p:xfrm>
        <a:graphic>
          <a:graphicData uri="http://schemas.openxmlformats.org/drawingml/2006/table">
            <a:tbl>
              <a:tblPr firstRow="1" firstCol="1" bandRow="1">
                <a:tableStyleId>{5C22544A-7EE6-4342-B048-85BDC9FD1C3A}</a:tableStyleId>
              </a:tblPr>
              <a:tblGrid>
                <a:gridCol w="3276600">
                  <a:extLst>
                    <a:ext uri="{9D8B030D-6E8A-4147-A177-3AD203B41FA5}">
                      <a16:colId xmlns:a16="http://schemas.microsoft.com/office/drawing/2014/main" val="4029051074"/>
                    </a:ext>
                  </a:extLst>
                </a:gridCol>
                <a:gridCol w="3276600">
                  <a:extLst>
                    <a:ext uri="{9D8B030D-6E8A-4147-A177-3AD203B41FA5}">
                      <a16:colId xmlns:a16="http://schemas.microsoft.com/office/drawing/2014/main" val="3547641733"/>
                    </a:ext>
                  </a:extLst>
                </a:gridCol>
              </a:tblGrid>
              <a:tr h="356246">
                <a:tc>
                  <a:txBody>
                    <a:bodyPr/>
                    <a:lstStyle/>
                    <a:p>
                      <a:pPr marL="0" marR="0">
                        <a:lnSpc>
                          <a:spcPct val="150000"/>
                        </a:lnSpc>
                        <a:spcAft>
                          <a:spcPts val="800"/>
                        </a:spcAft>
                        <a:buNone/>
                      </a:pPr>
                      <a:r>
                        <a:rPr lang="en-US" sz="1200" kern="100">
                          <a:effectLst/>
                        </a:rPr>
                        <a:t>Driving Forces (For Change)</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50000"/>
                        </a:lnSpc>
                        <a:spcAft>
                          <a:spcPts val="800"/>
                        </a:spcAft>
                        <a:buNone/>
                      </a:pPr>
                      <a:r>
                        <a:rPr lang="en-US" sz="1200" kern="100">
                          <a:effectLst/>
                        </a:rPr>
                        <a:t>Restraining Forces (Against Change)</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30021268"/>
                  </a:ext>
                </a:extLst>
              </a:tr>
              <a:tr h="356246">
                <a:tc>
                  <a:txBody>
                    <a:bodyPr/>
                    <a:lstStyle/>
                    <a:p>
                      <a:pPr marL="0" marR="0">
                        <a:lnSpc>
                          <a:spcPct val="150000"/>
                        </a:lnSpc>
                        <a:spcAft>
                          <a:spcPts val="800"/>
                        </a:spcAft>
                        <a:buNone/>
                      </a:pPr>
                      <a:r>
                        <a:rPr lang="en-US" sz="1200" kern="100">
                          <a:effectLst/>
                        </a:rPr>
                        <a:t>Rising costs of electricity, water, fuel</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50000"/>
                        </a:lnSpc>
                        <a:spcAft>
                          <a:spcPts val="800"/>
                        </a:spcAft>
                        <a:buNone/>
                      </a:pPr>
                      <a:r>
                        <a:rPr lang="en-US" sz="1200" kern="100" dirty="0">
                          <a:effectLst/>
                        </a:rPr>
                        <a:t>Resistance from staff fearing role change</a:t>
                      </a:r>
                      <a:endParaRPr lang="en-KE" sz="11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626184189"/>
                  </a:ext>
                </a:extLst>
              </a:tr>
              <a:tr h="356246">
                <a:tc>
                  <a:txBody>
                    <a:bodyPr/>
                    <a:lstStyle/>
                    <a:p>
                      <a:pPr marL="0" marR="0">
                        <a:lnSpc>
                          <a:spcPct val="150000"/>
                        </a:lnSpc>
                        <a:spcAft>
                          <a:spcPts val="800"/>
                        </a:spcAft>
                        <a:buNone/>
                      </a:pPr>
                      <a:r>
                        <a:rPr lang="en-US" sz="1200" kern="100">
                          <a:effectLst/>
                        </a:rPr>
                        <a:t>Pressure from increasing market competition</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50000"/>
                        </a:lnSpc>
                        <a:spcAft>
                          <a:spcPts val="800"/>
                        </a:spcAft>
                        <a:buNone/>
                      </a:pPr>
                      <a:r>
                        <a:rPr lang="en-US" sz="1200" kern="100">
                          <a:effectLst/>
                        </a:rPr>
                        <a:t>Initial investment cost for new equipment</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055528616"/>
                  </a:ext>
                </a:extLst>
              </a:tr>
              <a:tr h="722931">
                <a:tc>
                  <a:txBody>
                    <a:bodyPr/>
                    <a:lstStyle/>
                    <a:p>
                      <a:pPr marL="0" marR="0">
                        <a:lnSpc>
                          <a:spcPct val="150000"/>
                        </a:lnSpc>
                        <a:spcAft>
                          <a:spcPts val="800"/>
                        </a:spcAft>
                        <a:buNone/>
                      </a:pPr>
                      <a:r>
                        <a:rPr lang="en-US" sz="1200" kern="100">
                          <a:effectLst/>
                        </a:rPr>
                        <a:t>Need for post-COVID hygiene upgrades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50000"/>
                        </a:lnSpc>
                        <a:spcAft>
                          <a:spcPts val="800"/>
                        </a:spcAft>
                        <a:buNone/>
                      </a:pPr>
                      <a:r>
                        <a:rPr lang="en-US" sz="1200" kern="100">
                          <a:effectLst/>
                        </a:rPr>
                        <a:t>Limited technical skills among existing workforce</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755123966"/>
                  </a:ext>
                </a:extLst>
              </a:tr>
              <a:tr h="722931">
                <a:tc>
                  <a:txBody>
                    <a:bodyPr/>
                    <a:lstStyle/>
                    <a:p>
                      <a:pPr marL="0" marR="0">
                        <a:lnSpc>
                          <a:spcPct val="150000"/>
                        </a:lnSpc>
                        <a:spcAft>
                          <a:spcPts val="800"/>
                        </a:spcAft>
                        <a:buNone/>
                      </a:pPr>
                      <a:r>
                        <a:rPr lang="en-US" sz="1200" kern="100">
                          <a:effectLst/>
                        </a:rPr>
                        <a:t>Desire for regional expansion</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50000"/>
                        </a:lnSpc>
                        <a:spcAft>
                          <a:spcPts val="800"/>
                        </a:spcAft>
                        <a:buNone/>
                      </a:pPr>
                      <a:r>
                        <a:rPr lang="en-US" sz="1200" kern="100" dirty="0">
                          <a:effectLst/>
                        </a:rPr>
                        <a:t>Inflexible older procedures and reporting systems</a:t>
                      </a:r>
                      <a:endParaRPr lang="en-KE" sz="11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258036273"/>
                  </a:ext>
                </a:extLst>
              </a:tr>
            </a:tbl>
          </a:graphicData>
        </a:graphic>
      </p:graphicFrame>
      <p:sp>
        <p:nvSpPr>
          <p:cNvPr id="5" name="Rectangle 1">
            <a:extLst>
              <a:ext uri="{FF2B5EF4-FFF2-40B4-BE49-F238E27FC236}">
                <a16:creationId xmlns:a16="http://schemas.microsoft.com/office/drawing/2014/main" id="{7CC418FF-98A3-77DF-454A-D9A398D78881}"/>
              </a:ext>
            </a:extLst>
          </p:cNvPr>
          <p:cNvSpPr>
            <a:spLocks noChangeArrowheads="1"/>
          </p:cNvSpPr>
          <p:nvPr/>
        </p:nvSpPr>
        <p:spPr bwMode="auto">
          <a:xfrm>
            <a:off x="609600" y="3368660"/>
            <a:ext cx="483978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KE" sz="16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Appendix B: Force Field Analysis (Applied in Step 1)</a:t>
            </a:r>
            <a:endParaRPr kumimoji="0" lang="en-US" altLang="en-KE"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KE"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89632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DFAB818B-C1EC-898D-9BB9-9879E66C274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075D526-9E6C-E55D-FAF5-85B6554981E2}"/>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17</a:t>
            </a:fld>
            <a:endParaRPr spc="-25" dirty="0"/>
          </a:p>
        </p:txBody>
      </p:sp>
      <p:sp>
        <p:nvSpPr>
          <p:cNvPr id="2" name="object 2">
            <a:extLst>
              <a:ext uri="{FF2B5EF4-FFF2-40B4-BE49-F238E27FC236}">
                <a16:creationId xmlns:a16="http://schemas.microsoft.com/office/drawing/2014/main" id="{A4D0A9C9-7F2D-BD09-56E1-C341453D0768}"/>
              </a:ext>
            </a:extLst>
          </p:cNvPr>
          <p:cNvSpPr txBox="1"/>
          <p:nvPr/>
        </p:nvSpPr>
        <p:spPr>
          <a:xfrm>
            <a:off x="902004" y="435356"/>
            <a:ext cx="5971540" cy="3194914"/>
          </a:xfrm>
          <a:prstGeom prst="rect">
            <a:avLst/>
          </a:prstGeom>
        </p:spPr>
        <p:txBody>
          <a:bodyPr vert="horz" wrap="square" lIns="0" tIns="12700" rIns="0" bIns="0" rtlCol="0">
            <a:spAutoFit/>
          </a:bodyPr>
          <a:lstStyle/>
          <a:p>
            <a:pPr marR="5080" algn="r">
              <a:lnSpc>
                <a:spcPct val="100000"/>
              </a:lnSpc>
              <a:spcBef>
                <a:spcPts val="100"/>
              </a:spcBef>
            </a:pPr>
            <a:r>
              <a:rPr sz="1100" spc="-25" dirty="0">
                <a:latin typeface="Calibri"/>
                <a:cs typeface="Calibri"/>
              </a:rPr>
              <a:t>1</a:t>
            </a:r>
            <a:endParaRPr sz="1100" dirty="0">
              <a:latin typeface="Calibri"/>
              <a:cs typeface="Calibri"/>
            </a:endParaRPr>
          </a:p>
          <a:p>
            <a:pPr>
              <a:lnSpc>
                <a:spcPct val="150000"/>
              </a:lnSpc>
            </a:pPr>
            <a:r>
              <a:rPr lang="en-US" sz="1200" b="1" dirty="0"/>
              <a:t>Outcomes (Short to Mid-Term):</a:t>
            </a:r>
            <a:endParaRPr lang="en-KE" sz="1200" dirty="0"/>
          </a:p>
          <a:p>
            <a:pPr lvl="0">
              <a:lnSpc>
                <a:spcPct val="150000"/>
              </a:lnSpc>
            </a:pPr>
            <a:r>
              <a:rPr lang="en-US" sz="1200" dirty="0"/>
              <a:t>Enhanced competitiveness in Nairobi and Thika</a:t>
            </a:r>
            <a:endParaRPr lang="en-KE" sz="1200" dirty="0"/>
          </a:p>
          <a:p>
            <a:pPr lvl="0">
              <a:lnSpc>
                <a:spcPct val="150000"/>
              </a:lnSpc>
            </a:pPr>
            <a:r>
              <a:rPr lang="en-US" sz="1200" dirty="0"/>
              <a:t>Reduced operational costs</a:t>
            </a:r>
            <a:endParaRPr lang="en-KE" sz="1200" dirty="0"/>
          </a:p>
          <a:p>
            <a:pPr lvl="0">
              <a:lnSpc>
                <a:spcPct val="150000"/>
              </a:lnSpc>
            </a:pPr>
            <a:r>
              <a:rPr lang="en-US" sz="1200" dirty="0"/>
              <a:t>Stronger staff retention and performance</a:t>
            </a:r>
            <a:endParaRPr lang="en-KE" sz="1200" dirty="0"/>
          </a:p>
          <a:p>
            <a:pPr lvl="0">
              <a:lnSpc>
                <a:spcPct val="150000"/>
              </a:lnSpc>
            </a:pPr>
            <a:r>
              <a:rPr lang="en-US" sz="1200" dirty="0"/>
              <a:t>Higher referral and repeat clients</a:t>
            </a:r>
            <a:endParaRPr lang="en-KE" sz="1200" dirty="0"/>
          </a:p>
          <a:p>
            <a:pPr>
              <a:lnSpc>
                <a:spcPct val="150000"/>
              </a:lnSpc>
            </a:pPr>
            <a:r>
              <a:rPr lang="en-US" sz="1200" b="1" dirty="0"/>
              <a:t>Impact (Long-Term):</a:t>
            </a:r>
            <a:endParaRPr lang="en-KE" sz="1200" dirty="0"/>
          </a:p>
          <a:p>
            <a:pPr lvl="0">
              <a:lnSpc>
                <a:spcPct val="150000"/>
              </a:lnSpc>
            </a:pPr>
            <a:r>
              <a:rPr lang="en-US" sz="1200" dirty="0"/>
              <a:t>ALS becomes the preferred sustainable laundry brand in Kenya</a:t>
            </a:r>
            <a:endParaRPr lang="en-KE" sz="1200" dirty="0"/>
          </a:p>
          <a:p>
            <a:pPr lvl="0">
              <a:lnSpc>
                <a:spcPct val="150000"/>
              </a:lnSpc>
            </a:pPr>
            <a:r>
              <a:rPr lang="en-US" sz="1200" dirty="0"/>
              <a:t>Job creation and local partnerships grow</a:t>
            </a:r>
            <a:endParaRPr lang="en-KE" sz="1200" dirty="0"/>
          </a:p>
          <a:p>
            <a:pPr lvl="0">
              <a:lnSpc>
                <a:spcPct val="150000"/>
              </a:lnSpc>
            </a:pPr>
            <a:r>
              <a:rPr lang="en-US" sz="1200" dirty="0"/>
              <a:t>ALS contributes to eco-conscious business culture</a:t>
            </a:r>
          </a:p>
          <a:p>
            <a:pPr lvl="0">
              <a:lnSpc>
                <a:spcPct val="150000"/>
              </a:lnSpc>
            </a:pPr>
            <a:endParaRPr lang="en-US" sz="1200" dirty="0"/>
          </a:p>
          <a:p>
            <a:pPr lvl="0">
              <a:lnSpc>
                <a:spcPct val="150000"/>
              </a:lnSpc>
            </a:pPr>
            <a:endParaRPr lang="en-KE" sz="1200" dirty="0"/>
          </a:p>
        </p:txBody>
      </p:sp>
      <p:graphicFrame>
        <p:nvGraphicFramePr>
          <p:cNvPr id="6" name="Table 5">
            <a:extLst>
              <a:ext uri="{FF2B5EF4-FFF2-40B4-BE49-F238E27FC236}">
                <a16:creationId xmlns:a16="http://schemas.microsoft.com/office/drawing/2014/main" id="{F1C61B70-4D96-BFF6-0AF3-EA4630393630}"/>
              </a:ext>
            </a:extLst>
          </p:cNvPr>
          <p:cNvGraphicFramePr>
            <a:graphicFrameLocks noGrp="1"/>
          </p:cNvGraphicFramePr>
          <p:nvPr>
            <p:extLst>
              <p:ext uri="{D42A27DB-BD31-4B8C-83A1-F6EECF244321}">
                <p14:modId xmlns:p14="http://schemas.microsoft.com/office/powerpoint/2010/main" val="3865189586"/>
              </p:ext>
            </p:extLst>
          </p:nvPr>
        </p:nvGraphicFramePr>
        <p:xfrm>
          <a:off x="609600" y="3462754"/>
          <a:ext cx="6781801" cy="4309644"/>
        </p:xfrm>
        <a:graphic>
          <a:graphicData uri="http://schemas.openxmlformats.org/drawingml/2006/table">
            <a:tbl>
              <a:tblPr firstRow="1" firstCol="1" bandRow="1">
                <a:tableStyleId>{5C22544A-7EE6-4342-B048-85BDC9FD1C3A}</a:tableStyleId>
              </a:tblPr>
              <a:tblGrid>
                <a:gridCol w="934500">
                  <a:extLst>
                    <a:ext uri="{9D8B030D-6E8A-4147-A177-3AD203B41FA5}">
                      <a16:colId xmlns:a16="http://schemas.microsoft.com/office/drawing/2014/main" val="27880017"/>
                    </a:ext>
                  </a:extLst>
                </a:gridCol>
                <a:gridCol w="734250">
                  <a:extLst>
                    <a:ext uri="{9D8B030D-6E8A-4147-A177-3AD203B41FA5}">
                      <a16:colId xmlns:a16="http://schemas.microsoft.com/office/drawing/2014/main" val="3523974716"/>
                    </a:ext>
                  </a:extLst>
                </a:gridCol>
                <a:gridCol w="734250">
                  <a:extLst>
                    <a:ext uri="{9D8B030D-6E8A-4147-A177-3AD203B41FA5}">
                      <a16:colId xmlns:a16="http://schemas.microsoft.com/office/drawing/2014/main" val="2000767472"/>
                    </a:ext>
                  </a:extLst>
                </a:gridCol>
                <a:gridCol w="4378801">
                  <a:extLst>
                    <a:ext uri="{9D8B030D-6E8A-4147-A177-3AD203B41FA5}">
                      <a16:colId xmlns:a16="http://schemas.microsoft.com/office/drawing/2014/main" val="482403915"/>
                    </a:ext>
                  </a:extLst>
                </a:gridCol>
              </a:tblGrid>
              <a:tr h="467381">
                <a:tc>
                  <a:txBody>
                    <a:bodyPr/>
                    <a:lstStyle/>
                    <a:p>
                      <a:pPr marL="0" marR="0">
                        <a:lnSpc>
                          <a:spcPct val="107000"/>
                        </a:lnSpc>
                        <a:spcAft>
                          <a:spcPts val="800"/>
                        </a:spcAft>
                        <a:buNone/>
                      </a:pPr>
                      <a:r>
                        <a:rPr lang="en-US" sz="1200" kern="100">
                          <a:effectLst/>
                        </a:rPr>
                        <a:t>Strengths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gridSpan="2">
                  <a:txBody>
                    <a:bodyPr/>
                    <a:lstStyle/>
                    <a:p>
                      <a:pPr marL="0" marR="0">
                        <a:lnSpc>
                          <a:spcPct val="107000"/>
                        </a:lnSpc>
                        <a:spcAft>
                          <a:spcPts val="800"/>
                        </a:spcAft>
                        <a:buNone/>
                      </a:pPr>
                      <a:r>
                        <a:rPr lang="en-US" sz="1200" kern="100">
                          <a:effectLst/>
                        </a:rPr>
                        <a:t>Weaknesses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hMerge="1">
                  <a:txBody>
                    <a:bodyPr/>
                    <a:lstStyle/>
                    <a:p>
                      <a:endParaRPr lang="en-KE"/>
                    </a:p>
                  </a:txBody>
                  <a:tcPr/>
                </a:tc>
                <a:tc>
                  <a:txBody>
                    <a:bodyPr/>
                    <a:lstStyle/>
                    <a:p>
                      <a:endParaRPr lang="en-KE" dirty="0"/>
                    </a:p>
                  </a:txBody>
                  <a:tcPr/>
                </a:tc>
                <a:extLst>
                  <a:ext uri="{0D108BD9-81ED-4DB2-BD59-A6C34878D82A}">
                    <a16:rowId xmlns:a16="http://schemas.microsoft.com/office/drawing/2014/main" val="3275820179"/>
                  </a:ext>
                </a:extLst>
              </a:tr>
              <a:tr h="765417">
                <a:tc>
                  <a:txBody>
                    <a:bodyPr/>
                    <a:lstStyle/>
                    <a:p>
                      <a:pPr marL="0" marR="0">
                        <a:lnSpc>
                          <a:spcPct val="107000"/>
                        </a:lnSpc>
                        <a:spcAft>
                          <a:spcPts val="800"/>
                        </a:spcAft>
                        <a:buNone/>
                      </a:pPr>
                      <a:r>
                        <a:rPr lang="en-US" sz="1200" kern="100">
                          <a:effectLst/>
                        </a:rPr>
                        <a:t>Established client base</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gridSpan="2">
                  <a:txBody>
                    <a:bodyPr/>
                    <a:lstStyle/>
                    <a:p>
                      <a:pPr marL="0" marR="0">
                        <a:lnSpc>
                          <a:spcPct val="107000"/>
                        </a:lnSpc>
                        <a:spcAft>
                          <a:spcPts val="800"/>
                        </a:spcAft>
                        <a:buNone/>
                      </a:pPr>
                      <a:r>
                        <a:rPr lang="en-US" sz="1200" kern="100">
                          <a:effectLst/>
                        </a:rPr>
                        <a:t>Outdated machinery in some branches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hMerge="1">
                  <a:txBody>
                    <a:bodyPr/>
                    <a:lstStyle/>
                    <a:p>
                      <a:endParaRPr lang="en-KE"/>
                    </a:p>
                  </a:txBody>
                  <a:tcPr/>
                </a:tc>
                <a:tc>
                  <a:txBody>
                    <a:bodyPr/>
                    <a:lstStyle/>
                    <a:p>
                      <a:endParaRPr lang="en-KE" dirty="0"/>
                    </a:p>
                  </a:txBody>
                  <a:tcPr/>
                </a:tc>
                <a:extLst>
                  <a:ext uri="{0D108BD9-81ED-4DB2-BD59-A6C34878D82A}">
                    <a16:rowId xmlns:a16="http://schemas.microsoft.com/office/drawing/2014/main" val="1576109637"/>
                  </a:ext>
                </a:extLst>
              </a:tr>
              <a:tr h="515337">
                <a:tc>
                  <a:txBody>
                    <a:bodyPr/>
                    <a:lstStyle/>
                    <a:p>
                      <a:pPr marL="0" marR="0">
                        <a:lnSpc>
                          <a:spcPct val="107000"/>
                        </a:lnSpc>
                        <a:spcAft>
                          <a:spcPts val="800"/>
                        </a:spcAft>
                        <a:buNone/>
                      </a:pPr>
                      <a:r>
                        <a:rPr lang="en-US" sz="1200" kern="100">
                          <a:effectLst/>
                        </a:rPr>
                        <a:t>Committed leadership</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gridSpan="2">
                  <a:txBody>
                    <a:bodyPr/>
                    <a:lstStyle/>
                    <a:p>
                      <a:pPr marL="0" marR="0">
                        <a:lnSpc>
                          <a:spcPct val="107000"/>
                        </a:lnSpc>
                        <a:spcAft>
                          <a:spcPts val="800"/>
                        </a:spcAft>
                        <a:buNone/>
                      </a:pPr>
                      <a:r>
                        <a:rPr lang="en-US" sz="1200" kern="100">
                          <a:effectLst/>
                        </a:rPr>
                        <a:t>Limited digital marketing strategy</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hMerge="1">
                  <a:txBody>
                    <a:bodyPr/>
                    <a:lstStyle/>
                    <a:p>
                      <a:endParaRPr lang="en-KE"/>
                    </a:p>
                  </a:txBody>
                  <a:tcPr/>
                </a:tc>
                <a:tc>
                  <a:txBody>
                    <a:bodyPr/>
                    <a:lstStyle/>
                    <a:p>
                      <a:endParaRPr lang="en-KE"/>
                    </a:p>
                  </a:txBody>
                  <a:tcPr/>
                </a:tc>
                <a:extLst>
                  <a:ext uri="{0D108BD9-81ED-4DB2-BD59-A6C34878D82A}">
                    <a16:rowId xmlns:a16="http://schemas.microsoft.com/office/drawing/2014/main" val="880756824"/>
                  </a:ext>
                </a:extLst>
              </a:tr>
              <a:tr h="1015499">
                <a:tc>
                  <a:txBody>
                    <a:bodyPr/>
                    <a:lstStyle/>
                    <a:p>
                      <a:pPr marL="0" marR="0">
                        <a:lnSpc>
                          <a:spcPct val="107000"/>
                        </a:lnSpc>
                        <a:spcAft>
                          <a:spcPts val="800"/>
                        </a:spcAft>
                        <a:buNone/>
                      </a:pPr>
                      <a:r>
                        <a:rPr lang="en-US" sz="1200" kern="100">
                          <a:effectLst/>
                        </a:rPr>
                        <a:t>Reliable team and workflow experience</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gridSpan="2">
                  <a:txBody>
                    <a:bodyPr/>
                    <a:lstStyle/>
                    <a:p>
                      <a:pPr marL="0" marR="0">
                        <a:lnSpc>
                          <a:spcPct val="107000"/>
                        </a:lnSpc>
                        <a:spcAft>
                          <a:spcPts val="800"/>
                        </a:spcAft>
                        <a:buNone/>
                      </a:pPr>
                      <a:r>
                        <a:rPr lang="en-US" sz="1200" kern="100">
                          <a:effectLst/>
                        </a:rPr>
                        <a:t>High utility costs and downtime</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hMerge="1">
                  <a:txBody>
                    <a:bodyPr/>
                    <a:lstStyle/>
                    <a:p>
                      <a:endParaRPr lang="en-KE"/>
                    </a:p>
                  </a:txBody>
                  <a:tcPr/>
                </a:tc>
                <a:tc>
                  <a:txBody>
                    <a:bodyPr/>
                    <a:lstStyle/>
                    <a:p>
                      <a:endParaRPr lang="en-KE" dirty="0"/>
                    </a:p>
                  </a:txBody>
                  <a:tcPr/>
                </a:tc>
                <a:extLst>
                  <a:ext uri="{0D108BD9-81ED-4DB2-BD59-A6C34878D82A}">
                    <a16:rowId xmlns:a16="http://schemas.microsoft.com/office/drawing/2014/main" val="1147228697"/>
                  </a:ext>
                </a:extLst>
              </a:tr>
              <a:tr h="265256">
                <a:tc gridSpan="2">
                  <a:txBody>
                    <a:bodyPr/>
                    <a:lstStyle/>
                    <a:p>
                      <a:pPr marL="0" marR="0">
                        <a:lnSpc>
                          <a:spcPct val="107000"/>
                        </a:lnSpc>
                        <a:spcAft>
                          <a:spcPts val="800"/>
                        </a:spcAft>
                        <a:buNone/>
                      </a:pPr>
                      <a:r>
                        <a:rPr lang="en-US" sz="1200" kern="100" dirty="0">
                          <a:effectLst/>
                        </a:rPr>
                        <a:t>Opportunities</a:t>
                      </a:r>
                      <a:endParaRPr lang="en-KE" sz="11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hMerge="1">
                  <a:txBody>
                    <a:bodyPr/>
                    <a:lstStyle/>
                    <a:p>
                      <a:endParaRPr lang="en-KE"/>
                    </a:p>
                  </a:txBody>
                  <a:tcPr/>
                </a:tc>
                <a:tc gridSpan="2">
                  <a:txBody>
                    <a:bodyPr/>
                    <a:lstStyle/>
                    <a:p>
                      <a:pPr marL="0" marR="0">
                        <a:lnSpc>
                          <a:spcPct val="107000"/>
                        </a:lnSpc>
                        <a:spcAft>
                          <a:spcPts val="800"/>
                        </a:spcAft>
                        <a:buNone/>
                      </a:pPr>
                      <a:r>
                        <a:rPr lang="en-US" sz="1200" kern="100">
                          <a:effectLst/>
                        </a:rPr>
                        <a:t>Threats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hMerge="1">
                  <a:txBody>
                    <a:bodyPr/>
                    <a:lstStyle/>
                    <a:p>
                      <a:endParaRPr lang="en-KE"/>
                    </a:p>
                  </a:txBody>
                  <a:tcPr/>
                </a:tc>
                <a:extLst>
                  <a:ext uri="{0D108BD9-81ED-4DB2-BD59-A6C34878D82A}">
                    <a16:rowId xmlns:a16="http://schemas.microsoft.com/office/drawing/2014/main" val="1284544079"/>
                  </a:ext>
                </a:extLst>
              </a:tr>
              <a:tr h="765417">
                <a:tc gridSpan="2">
                  <a:txBody>
                    <a:bodyPr/>
                    <a:lstStyle/>
                    <a:p>
                      <a:pPr marL="0" marR="0">
                        <a:lnSpc>
                          <a:spcPct val="107000"/>
                        </a:lnSpc>
                        <a:spcAft>
                          <a:spcPts val="800"/>
                        </a:spcAft>
                        <a:buNone/>
                      </a:pPr>
                      <a:r>
                        <a:rPr lang="en-US" sz="1200" kern="100">
                          <a:effectLst/>
                        </a:rPr>
                        <a:t>Expanding to new high-demand locations</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hMerge="1">
                  <a:txBody>
                    <a:bodyPr/>
                    <a:lstStyle/>
                    <a:p>
                      <a:endParaRPr lang="en-KE"/>
                    </a:p>
                  </a:txBody>
                  <a:tcPr/>
                </a:tc>
                <a:tc gridSpan="2">
                  <a:txBody>
                    <a:bodyPr/>
                    <a:lstStyle/>
                    <a:p>
                      <a:pPr marL="0" marR="0">
                        <a:lnSpc>
                          <a:spcPct val="107000"/>
                        </a:lnSpc>
                        <a:spcAft>
                          <a:spcPts val="800"/>
                        </a:spcAft>
                        <a:buNone/>
                      </a:pPr>
                      <a:r>
                        <a:rPr lang="en-US" sz="1200" kern="100" dirty="0">
                          <a:effectLst/>
                        </a:rPr>
                        <a:t>Emerging competitors with aggressive pricing</a:t>
                      </a:r>
                      <a:endParaRPr lang="en-KE" sz="11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hMerge="1">
                  <a:txBody>
                    <a:bodyPr/>
                    <a:lstStyle/>
                    <a:p>
                      <a:endParaRPr lang="en-KE"/>
                    </a:p>
                  </a:txBody>
                  <a:tcPr/>
                </a:tc>
                <a:extLst>
                  <a:ext uri="{0D108BD9-81ED-4DB2-BD59-A6C34878D82A}">
                    <a16:rowId xmlns:a16="http://schemas.microsoft.com/office/drawing/2014/main" val="1469913534"/>
                  </a:ext>
                </a:extLst>
              </a:tr>
              <a:tr h="515337">
                <a:tc gridSpan="2">
                  <a:txBody>
                    <a:bodyPr/>
                    <a:lstStyle/>
                    <a:p>
                      <a:pPr marL="0" marR="0">
                        <a:lnSpc>
                          <a:spcPct val="107000"/>
                        </a:lnSpc>
                        <a:spcAft>
                          <a:spcPts val="800"/>
                        </a:spcAft>
                        <a:buNone/>
                      </a:pPr>
                      <a:r>
                        <a:rPr lang="en-US" sz="1200" kern="100">
                          <a:effectLst/>
                        </a:rPr>
                        <a:t>Shift to eco-friendly consumer behavior</a:t>
                      </a:r>
                      <a:endParaRPr lang="en-KE" sz="11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hMerge="1">
                  <a:txBody>
                    <a:bodyPr/>
                    <a:lstStyle/>
                    <a:p>
                      <a:endParaRPr lang="en-KE"/>
                    </a:p>
                  </a:txBody>
                  <a:tcPr/>
                </a:tc>
                <a:tc gridSpan="2">
                  <a:txBody>
                    <a:bodyPr/>
                    <a:lstStyle/>
                    <a:p>
                      <a:pPr marL="0" marR="0">
                        <a:lnSpc>
                          <a:spcPct val="107000"/>
                        </a:lnSpc>
                        <a:spcAft>
                          <a:spcPts val="800"/>
                        </a:spcAft>
                        <a:buNone/>
                      </a:pPr>
                      <a:r>
                        <a:rPr lang="en-US" sz="1200" kern="100" dirty="0">
                          <a:effectLst/>
                        </a:rPr>
                        <a:t>Government regulations on water/energy usage</a:t>
                      </a:r>
                      <a:endParaRPr lang="en-KE" sz="11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hMerge="1">
                  <a:txBody>
                    <a:bodyPr/>
                    <a:lstStyle/>
                    <a:p>
                      <a:endParaRPr lang="en-KE"/>
                    </a:p>
                  </a:txBody>
                  <a:tcPr/>
                </a:tc>
                <a:extLst>
                  <a:ext uri="{0D108BD9-81ED-4DB2-BD59-A6C34878D82A}">
                    <a16:rowId xmlns:a16="http://schemas.microsoft.com/office/drawing/2014/main" val="463071103"/>
                  </a:ext>
                </a:extLst>
              </a:tr>
            </a:tbl>
          </a:graphicData>
        </a:graphic>
      </p:graphicFrame>
      <p:sp>
        <p:nvSpPr>
          <p:cNvPr id="7" name="Rectangle 1">
            <a:extLst>
              <a:ext uri="{FF2B5EF4-FFF2-40B4-BE49-F238E27FC236}">
                <a16:creationId xmlns:a16="http://schemas.microsoft.com/office/drawing/2014/main" id="{C767F419-9BA9-022A-2080-C4AA77AA0E46}"/>
              </a:ext>
            </a:extLst>
          </p:cNvPr>
          <p:cNvSpPr>
            <a:spLocks noChangeArrowheads="1"/>
          </p:cNvSpPr>
          <p:nvPr/>
        </p:nvSpPr>
        <p:spPr bwMode="auto">
          <a:xfrm>
            <a:off x="754228" y="3124200"/>
            <a:ext cx="649254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KE" sz="16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Appendix C: SWOT Summary</a:t>
            </a:r>
            <a:endParaRPr kumimoji="0" lang="en-US" altLang="en-KE"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12006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58861222-431C-78C0-39D6-4BB21246F10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6844EF1-D113-CC01-92A6-E5193FA64635}"/>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18</a:t>
            </a:fld>
            <a:endParaRPr spc="-25" dirty="0"/>
          </a:p>
        </p:txBody>
      </p:sp>
      <p:sp>
        <p:nvSpPr>
          <p:cNvPr id="2" name="object 2">
            <a:extLst>
              <a:ext uri="{FF2B5EF4-FFF2-40B4-BE49-F238E27FC236}">
                <a16:creationId xmlns:a16="http://schemas.microsoft.com/office/drawing/2014/main" id="{DDDF2F8A-96D1-2F4A-692D-0918055808A4}"/>
              </a:ext>
            </a:extLst>
          </p:cNvPr>
          <p:cNvSpPr txBox="1"/>
          <p:nvPr/>
        </p:nvSpPr>
        <p:spPr>
          <a:xfrm>
            <a:off x="902004" y="435356"/>
            <a:ext cx="5971540" cy="4164410"/>
          </a:xfrm>
          <a:prstGeom prst="rect">
            <a:avLst/>
          </a:prstGeom>
        </p:spPr>
        <p:txBody>
          <a:bodyPr vert="horz" wrap="square" lIns="0" tIns="12700" rIns="0" bIns="0" rtlCol="0">
            <a:spAutoFit/>
          </a:bodyPr>
          <a:lstStyle/>
          <a:p>
            <a:pPr marR="5080" algn="r">
              <a:lnSpc>
                <a:spcPct val="100000"/>
              </a:lnSpc>
              <a:spcBef>
                <a:spcPts val="100"/>
              </a:spcBef>
            </a:pPr>
            <a:r>
              <a:rPr sz="1100" spc="-25" dirty="0">
                <a:latin typeface="Calibri"/>
                <a:cs typeface="Calibri"/>
              </a:rPr>
              <a:t>1</a:t>
            </a:r>
            <a:endParaRPr sz="1100" dirty="0">
              <a:latin typeface="Calibri"/>
              <a:cs typeface="Calibri"/>
            </a:endParaRPr>
          </a:p>
          <a:p>
            <a:pPr>
              <a:lnSpc>
                <a:spcPct val="150000"/>
              </a:lnSpc>
            </a:pPr>
            <a:r>
              <a:rPr lang="en-US" sz="1800" b="1" dirty="0"/>
              <a:t>REFERENCES</a:t>
            </a:r>
            <a:endParaRPr lang="en-KE" sz="1800" dirty="0"/>
          </a:p>
          <a:p>
            <a:pPr>
              <a:lnSpc>
                <a:spcPct val="150000"/>
              </a:lnSpc>
            </a:pPr>
            <a:r>
              <a:rPr lang="en-US" sz="1200" dirty="0"/>
              <a:t>Alicia Laundry Solutions Ltd. (2025). </a:t>
            </a:r>
            <a:r>
              <a:rPr lang="en-US" sz="1200" i="1" dirty="0"/>
              <a:t>Managing Organizational Change at ALS: Internal Change Strategy Report</a:t>
            </a:r>
            <a:r>
              <a:rPr lang="en-US" sz="1200" dirty="0"/>
              <a:t>. Nairobi, Kenya.</a:t>
            </a:r>
            <a:endParaRPr lang="en-KE" sz="1200" dirty="0"/>
          </a:p>
          <a:p>
            <a:pPr>
              <a:lnSpc>
                <a:spcPct val="150000"/>
              </a:lnSpc>
            </a:pPr>
            <a:r>
              <a:rPr lang="en-US" sz="1200" dirty="0"/>
              <a:t>Kotter, J. P. (1996). </a:t>
            </a:r>
            <a:r>
              <a:rPr lang="en-US" sz="1200" i="1" dirty="0"/>
              <a:t>Leading Change</a:t>
            </a:r>
            <a:r>
              <a:rPr lang="en-US" sz="1200" dirty="0"/>
              <a:t>. Boston, MA: Harvard Business School Press.</a:t>
            </a:r>
            <a:endParaRPr lang="en-KE" sz="1200" dirty="0"/>
          </a:p>
          <a:p>
            <a:pPr>
              <a:lnSpc>
                <a:spcPct val="150000"/>
              </a:lnSpc>
            </a:pPr>
            <a:r>
              <a:rPr lang="en-US" sz="1200" dirty="0"/>
              <a:t>Lewin, K. (1947). Frontiers in group dynamics. </a:t>
            </a:r>
            <a:r>
              <a:rPr lang="en-US" sz="1200" i="1" dirty="0"/>
              <a:t>Human Relations</a:t>
            </a:r>
            <a:r>
              <a:rPr lang="en-US" sz="1200" dirty="0"/>
              <a:t>, 1(1), 5–41. https://doi.org/10.1177/001872674700100103</a:t>
            </a:r>
            <a:endParaRPr lang="en-KE" sz="1200" dirty="0"/>
          </a:p>
          <a:p>
            <a:pPr>
              <a:lnSpc>
                <a:spcPct val="150000"/>
              </a:lnSpc>
            </a:pPr>
            <a:r>
              <a:rPr lang="en-US" sz="1200" dirty="0"/>
              <a:t>International Leadership University. (2025). </a:t>
            </a:r>
            <a:r>
              <a:rPr lang="en-US" sz="1200" i="1" dirty="0"/>
              <a:t>Course Guide: Diploma in Leadership Management – MGT 035: Leading Change</a:t>
            </a:r>
            <a:r>
              <a:rPr lang="en-US" sz="1200" dirty="0"/>
              <a:t>. ILU Publications.</a:t>
            </a:r>
            <a:endParaRPr lang="en-KE" sz="1200" dirty="0"/>
          </a:p>
          <a:p>
            <a:pPr>
              <a:lnSpc>
                <a:spcPct val="150000"/>
              </a:lnSpc>
            </a:pPr>
            <a:r>
              <a:rPr lang="en-US" sz="1200" dirty="0"/>
              <a:t>Business in Kenya. (2024). </a:t>
            </a:r>
            <a:r>
              <a:rPr lang="en-US" sz="1200" i="1" dirty="0"/>
              <a:t>How to Start and Run a Profitable Laundry Business in Kenya</a:t>
            </a:r>
            <a:r>
              <a:rPr lang="en-US" sz="1200" dirty="0"/>
              <a:t>. Retrieved from </a:t>
            </a:r>
            <a:r>
              <a:rPr lang="en-US" sz="1200" u="sng" dirty="0">
                <a:hlinkClick r:id="rId2"/>
              </a:rPr>
              <a:t>https://businessinkenya.co.ke</a:t>
            </a:r>
            <a:endParaRPr lang="en-KE" sz="1200" dirty="0"/>
          </a:p>
          <a:p>
            <a:pPr>
              <a:lnSpc>
                <a:spcPct val="150000"/>
              </a:lnSpc>
            </a:pPr>
            <a:r>
              <a:rPr lang="en-US" sz="1200" dirty="0"/>
              <a:t>Business Plan Templates. (2024). </a:t>
            </a:r>
            <a:r>
              <a:rPr lang="en-US" sz="1200" i="1" dirty="0"/>
              <a:t>Laundry Business Startup &amp; Operational Costs in Kenya</a:t>
            </a:r>
            <a:r>
              <a:rPr lang="en-US" sz="1200" dirty="0"/>
              <a:t>. Retrieved from </a:t>
            </a:r>
            <a:r>
              <a:rPr lang="en-US" sz="1200" u="sng" dirty="0">
                <a:hlinkClick r:id="rId3"/>
              </a:rPr>
              <a:t>https://businessplan-templates.com</a:t>
            </a:r>
            <a:endParaRPr lang="en-KE" sz="1200" dirty="0"/>
          </a:p>
          <a:p>
            <a:pPr lvl="0">
              <a:lnSpc>
                <a:spcPct val="150000"/>
              </a:lnSpc>
            </a:pPr>
            <a:endParaRPr lang="en-US" sz="1200" dirty="0"/>
          </a:p>
          <a:p>
            <a:pPr lvl="0">
              <a:lnSpc>
                <a:spcPct val="150000"/>
              </a:lnSpc>
            </a:pPr>
            <a:endParaRPr lang="en-KE" sz="1200" dirty="0"/>
          </a:p>
        </p:txBody>
      </p:sp>
    </p:spTree>
    <p:extLst>
      <p:ext uri="{BB962C8B-B14F-4D97-AF65-F5344CB8AC3E}">
        <p14:creationId xmlns:p14="http://schemas.microsoft.com/office/powerpoint/2010/main" val="4247542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110</TotalTime>
  <Words>3346</Words>
  <Application>Microsoft Office PowerPoint</Application>
  <PresentationFormat>Custom</PresentationFormat>
  <Paragraphs>368</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Arial MT</vt:lpstr>
      <vt:lpstr>Calibri</vt:lpstr>
      <vt:lpstr>Symbol</vt:lpstr>
      <vt:lpstr>Times New Roman</vt:lpstr>
      <vt:lpstr>Office Theme</vt:lpstr>
      <vt:lpstr>PowerPoint Presentation</vt:lpstr>
      <vt:lpstr>ALICIA LAUNDRY SOLUTIONS CHANGE MANAGEMENT PLAN (ALS)</vt:lpstr>
      <vt:lpstr>III. Executive Summary of the ALS Leading change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Gichez _</cp:lastModifiedBy>
  <cp:revision>4</cp:revision>
  <dcterms:created xsi:type="dcterms:W3CDTF">2025-07-04T15:15:00Z</dcterms:created>
  <dcterms:modified xsi:type="dcterms:W3CDTF">2025-07-05T18:08:24Z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2025-07-04T00:00:00Z</vt:filetime>
  </property>
  <property fmtid="{D5CDD505-2E9C-101B-9397-08002B2CF9AE}" pid="3" name="Creator">
    <vt:lpwstr>Microsoft® Word 2010</vt:lpwstr>
  </property>
  <property fmtid="{D5CDD505-2E9C-101B-9397-08002B2CF9AE}" pid="4" name="LastSaved">
    <vt:filetime>2025-07-04T00:00:00Z</vt:filetime>
  </property>
  <property fmtid="{D5CDD505-2E9C-101B-9397-08002B2CF9AE}" pid="5" name="Producer">
    <vt:lpwstr>Microsoft® Word 2010</vt:lpwstr>
  </property>
</Properties>
</file>